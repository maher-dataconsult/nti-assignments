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1.xml" ContentType="application/inkml+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62"/>
  </p:notesMasterIdLst>
  <p:sldIdLst>
    <p:sldId id="318" r:id="rId2"/>
    <p:sldId id="398" r:id="rId3"/>
    <p:sldId id="399" r:id="rId4"/>
    <p:sldId id="400" r:id="rId5"/>
    <p:sldId id="401" r:id="rId6"/>
    <p:sldId id="402" r:id="rId7"/>
    <p:sldId id="403" r:id="rId8"/>
    <p:sldId id="404" r:id="rId9"/>
    <p:sldId id="267" r:id="rId10"/>
    <p:sldId id="405" r:id="rId11"/>
    <p:sldId id="406" r:id="rId12"/>
    <p:sldId id="308" r:id="rId13"/>
    <p:sldId id="407" r:id="rId14"/>
    <p:sldId id="408" r:id="rId15"/>
    <p:sldId id="409" r:id="rId16"/>
    <p:sldId id="450" r:id="rId17"/>
    <p:sldId id="412" r:id="rId18"/>
    <p:sldId id="414" r:id="rId19"/>
    <p:sldId id="413" r:id="rId20"/>
    <p:sldId id="416" r:id="rId21"/>
    <p:sldId id="415" r:id="rId22"/>
    <p:sldId id="417" r:id="rId23"/>
    <p:sldId id="270" r:id="rId24"/>
    <p:sldId id="419" r:id="rId25"/>
    <p:sldId id="420" r:id="rId26"/>
    <p:sldId id="421" r:id="rId27"/>
    <p:sldId id="422" r:id="rId28"/>
    <p:sldId id="423" r:id="rId29"/>
    <p:sldId id="425" r:id="rId30"/>
    <p:sldId id="426" r:id="rId31"/>
    <p:sldId id="427" r:id="rId32"/>
    <p:sldId id="428" r:id="rId33"/>
    <p:sldId id="429" r:id="rId34"/>
    <p:sldId id="430" r:id="rId35"/>
    <p:sldId id="431" r:id="rId36"/>
    <p:sldId id="432" r:id="rId37"/>
    <p:sldId id="433" r:id="rId38"/>
    <p:sldId id="434" r:id="rId39"/>
    <p:sldId id="435" r:id="rId40"/>
    <p:sldId id="436" r:id="rId41"/>
    <p:sldId id="437" r:id="rId42"/>
    <p:sldId id="438" r:id="rId43"/>
    <p:sldId id="439" r:id="rId44"/>
    <p:sldId id="440" r:id="rId45"/>
    <p:sldId id="441" r:id="rId46"/>
    <p:sldId id="290" r:id="rId47"/>
    <p:sldId id="276" r:id="rId48"/>
    <p:sldId id="443" r:id="rId49"/>
    <p:sldId id="444" r:id="rId50"/>
    <p:sldId id="445" r:id="rId51"/>
    <p:sldId id="446" r:id="rId52"/>
    <p:sldId id="447" r:id="rId53"/>
    <p:sldId id="448" r:id="rId54"/>
    <p:sldId id="449" r:id="rId55"/>
    <p:sldId id="392" r:id="rId56"/>
    <p:sldId id="393" r:id="rId57"/>
    <p:sldId id="394" r:id="rId58"/>
    <p:sldId id="395" r:id="rId59"/>
    <p:sldId id="384" r:id="rId60"/>
    <p:sldId id="38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04" autoAdjust="0"/>
    <p:restoredTop sz="94660"/>
  </p:normalViewPr>
  <p:slideViewPr>
    <p:cSldViewPr snapToGrid="0">
      <p:cViewPr varScale="1">
        <p:scale>
          <a:sx n="110" d="100"/>
          <a:sy n="110" d="100"/>
        </p:scale>
        <p:origin x="14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9T05:37:50.273"/>
    </inkml:context>
    <inkml:brush xml:id="br0">
      <inkml:brushProperty name="width" value="0.35" units="cm"/>
      <inkml:brushProperty name="height" value="0.35" units="cm"/>
    </inkml:brush>
  </inkml:definitions>
  <inkml:trace contextRef="#ctx0" brushRef="#br0">2 1 24575,'-1'23'0,"1"-7"0,2 33 0,-2-46 0,1 1 0,0 0 0,0-1 0,0 1 0,0 0 0,0-1 0,1 0 0,-1 1 0,1-1 0,0 0 0,0 1 0,0-1 0,5 5 0,-6-8 0,-1 1 0,1-1 0,-1 1 0,1-1 0,-1 1 0,1-1 0,-1 0 0,1 1 0,-1-1 0,1 0 0,-1 1 0,1-1 0,0 0 0,-1 0 0,1 0 0,-1 1 0,1-1 0,0 0 0,-1 0 0,1 0 0,0 0 0,-1 0 0,1 0 0,0 0 0,-1 0 0,1 0 0,-1-1 0,1 1 0,0 0 0,-1 0 0,1-1 0,-1 1 0,1 0 0,0-1 0,-1 1 0,1 0 0,-1-1 0,1 1 0,-1-1 0,0 1 0,1-1 0,-1 1 0,1-1 0,-1 1 0,0-1 0,1 1 0,-1-2 0,3-3 0,0-1 0,-1 0 0,0 0 0,2-8 0,0-1 0,-2 12 0,0 0 0,0 0 0,0 0 0,1 1 0,-1-1 0,1 1 0,0-1 0,0 1 0,-1 0 0,2 0 0,-1 0 0,0 0 0,0 0 0,0 1 0,1 0 0,-1 0 0,1 0 0,-1 0 0,1 0 0,-1 0 0,1 1 0,5 0 0,-4-1 0,1 1 0,-1 0 0,0 0 0,1 1 0,-1-1 0,1 1 0,-1 0 0,0 1 0,1-1 0,-1 1 0,0 0 0,0 1 0,0-1 0,5 4 0,20 26 0,-24-26 0,-1 0 0,1 0 0,10 9 0,-13-14 0,0 1 0,0 0 0,0 0 0,0-1 0,0 0 0,0 0 0,1 0 0,-1 0 0,0 0 0,0-1 0,1 1 0,5-1 0,5-1 0,0-1 0,0 0 0,0-1 0,0-1 0,-1 0 0,1-1 0,-1 0 0,13-8 0,-11 6 0,-1 1 0,1 0 0,0 1 0,0 0 0,29-4 0,-26 9 0,-1 0 0,1 1 0,22 5 0,27 2 0,-45-7 0,0 1 0,-1 1 0,38 10 0,-37-8-341,-1-1 0,1-2-1,38 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9E7E9-2FF8-42EC-A810-70248398C800}" type="datetimeFigureOut">
              <a:rPr lang="en-US" smtClean="0"/>
              <a:t>12/30/2024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FD346-FE9D-44A3-8D88-2394A2C8C0F4}" type="slidenum">
              <a:rPr lang="en-US" smtClean="0"/>
              <a:t>‹#›</a:t>
            </a:fld>
            <a:endParaRPr lang="en-US"/>
          </a:p>
        </p:txBody>
      </p:sp>
    </p:spTree>
    <p:extLst>
      <p:ext uri="{BB962C8B-B14F-4D97-AF65-F5344CB8AC3E}">
        <p14:creationId xmlns:p14="http://schemas.microsoft.com/office/powerpoint/2010/main" val="853765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254FEDF-F75F-66E9-28A7-8D9223666ADF}"/>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06BAD7E0-35A8-6367-B104-3F5937C75F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26633BBC-4101-A720-36C1-15BEF1DCB6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438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8BDF1392-3D13-B203-F5C0-F3DAB7F7BE32}"/>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40F6C96B-2A92-A21E-362A-09D5AAE61E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63308A2-3D32-C33D-21A7-E7A26DD213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6865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FF041E75-1393-80B3-7EAB-3311FB9F64EA}"/>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5FAD3DFF-07DA-E9DD-B10C-BA08CB5CE7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BE120C79-E41D-62F8-410B-83F35021F0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202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33673520-7020-51E8-5C52-78E00BA24CBB}"/>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1A3CD35B-6CE8-D9B7-59E2-CF6549E07A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D3988FDC-6244-9873-DF20-B8B70392F9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775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4BECF47D-A5E4-E130-1746-D2AE2A53BDF3}"/>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515DB8CC-CB8E-79A5-A81D-BDE7567A32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671DA1A5-0062-2DD4-C67F-2D7B143842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280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6E18D95-C0FA-BC74-5311-6ABAB1C056A9}"/>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29C9D1AD-0B8D-8350-75E3-F8CADCFF02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501D39CA-4552-2B12-2B4D-B648E31EDB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0665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2B518372-CDC1-0B1E-4031-B90A6712E737}"/>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A86B71A9-9CE6-045B-2F46-33491AEA4C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B764F8A9-8847-1F02-D2AA-13058CC421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7320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18DD0B5-1B86-2F83-6F80-8B51FDB05777}"/>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3D978841-5C99-83CB-E45B-DD9766FDC0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4C7DF1AA-CDB3-ADFC-D7B7-7FDCEEB250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7078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4A8154F-2A51-4C98-2464-0BD24F0E9E6C}"/>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41429EE9-4AC3-0662-1911-5092FC116D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50C51268-76DC-9980-134B-B6FC2226D3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005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2E61711A-2D55-19CE-5D15-695F2D1B4249}"/>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76780067-215D-D4C8-8176-EC91CEC4CA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F714A8D-2A27-00F6-7321-2A7654FABB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976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A489AA2-D577-F30A-5E9C-17FF0746201B}"/>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1C70F16D-139F-47B8-DFD8-1FE654A9CE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3626E829-6742-2302-9DAF-7F830AD474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776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D8DED7D-BDE8-1F4A-FC60-7DC8899116DD}"/>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0AC01732-F129-FDF7-2C27-EA838B6F90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016C068-4BCC-74DE-DF4D-44462D7A4E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1531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4B26F16-8C2A-21EE-AB9E-E5C2DAE48622}"/>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8F34569C-3384-134A-D447-FA276F42C3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9A8AD2C8-2356-A704-9AAE-9257F8309C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14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84FAAC59-96B8-0324-9C47-70FFF00C5A4E}"/>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29750858-7F82-7672-85E3-311299B73A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EB437F06-13C4-0F8F-7F54-A9EF7AB9E2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82190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C3182060-3C48-167A-3372-AF34ADF7D3DE}"/>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B9473285-5C18-F81D-2A7F-23C1EBCB3D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65490B4A-7AD8-4ADF-39D1-4A51D4E103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5447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2CF45309-EB81-8DBC-E78D-BD545724286E}"/>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028190C9-256D-9461-8335-316B7693883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5F09AF07-65A6-61F1-11EB-C523BD3959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82640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3E6454EA-DF1C-1CD9-037A-32586F9C2A58}"/>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DE2329D3-72DA-E563-AC5C-F29561B9383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5B899E29-FE6E-0891-CD10-A80EE1C86F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6218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509CB9A-6C2F-1E32-8908-DE88E8979FFE}"/>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DEE337C1-E790-1033-C6B7-01CE39EFF4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71335FA-879B-102D-CE4B-E302238F16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8958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7CAD5161-CE82-B182-49E3-68868A5AC0EC}"/>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AD483000-C26F-74BF-96ED-AE45EB99C1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A2341EC7-15DB-0331-D01C-9ED50DCCA3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9518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466B4D27-A967-DFFB-309F-C06193578C39}"/>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43CCE7B5-5219-C601-337E-952B7788BE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77D61B2-CAE2-FEFD-5F5E-300A507289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282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2D69036-3571-A094-5DCB-ECAF096417CC}"/>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6089C633-00BC-6523-FB91-DD47E86285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375E1BAE-C5DC-392D-5185-118AA29A00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3796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89D8EF0-2693-9B62-C968-D417AF18B1B7}"/>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E1EF8959-DD05-B5D6-0D90-2146E8699F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C8D4649D-DCCD-A131-73C2-8B5F51D847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415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ECD4EEC-1490-263D-D719-71F0D44FD58B}"/>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76B1DFD5-93D7-4EA7-7B3A-41D83FD545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AE9C5B1-2D16-ACCB-0FB2-3AA47D0C12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1132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7E712ABF-FD17-4FE2-982B-B628DF9A45C5}"/>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C9881D6E-CEF6-BADB-3119-F191F77037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EAB6A8FA-142A-05EA-096E-A1DAA1E396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00778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7602D9A-021C-B624-657C-421F720D34C9}"/>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322937A2-FA9A-047C-2770-9721FED25F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F821AAC4-50EF-C010-7522-B0AFD99663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583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A1B84D29-554A-FF03-D92A-A8B2670BCAEC}"/>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EB076ADA-F13C-7113-D63A-D74DFF8EAE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408A5B33-3756-8176-62D4-4782BECE3F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075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B2BB35F-2951-87CA-9D05-8824102C3FB2}"/>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70E6A9B4-EBF4-F0A5-B96D-D0505EE96F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D3BC45A2-D6CE-1239-0A69-EEACA9158B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7390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0364B902-9209-DE1F-7827-6BD2C1B3B283}"/>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327F8514-5FB8-0666-2DA9-836D3FAF2F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F7988E50-82F3-CAEA-8577-AA3016CCA2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29019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A36C1BA8-CFEF-F798-FCF5-0C6B5290F37C}"/>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7863458F-E55D-DDD1-91D1-4C48F75255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77DF5064-0874-3913-E3F6-63000F0D99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1301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BCCD41A6-AA87-C3F5-D53D-EB54967F1A44}"/>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7AF64502-E03F-458F-E9F0-5D43101165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4C136013-A810-FC65-77D6-35A6FE1737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79556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602D0E1-49B8-FE48-2FF6-74E2B44829EA}"/>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16A9A5BC-B85F-A574-EDB4-7EC29D5DB0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BE4F0EC-A808-B4FF-0118-33F4BEC97D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7770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C547125F-8210-8BF9-85D5-16F099199103}"/>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5D6C5BB6-04C0-B6A7-97BD-2FC35D745C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4CE25B23-C132-6904-C1EF-C78F5DD7E5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0374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86F3B68B-20DE-8FCC-3CB7-636C5F40605A}"/>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D0DEE384-D7D1-EC75-1947-D83EDE38CD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B263805-FEC0-BD71-7DD6-C0ECD29722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64604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E4FCF97-F262-87C6-88DF-CB0B157A5AA3}"/>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FB57283D-0ED3-7A70-81BF-CC93033CE9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5B7B19F3-A679-BB9C-F98C-D7F097023C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12931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BA8C01E-CFF8-03BB-9789-6F74CC377016}"/>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BC20E3CB-1B22-E497-102E-71C346AA75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EC65DD45-A583-BD40-5BBA-EF94652B14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98164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DC3BEC4-88DF-6587-AA68-DABA5B68DA0F}"/>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53ECDF2C-ED30-C356-AE70-A9BA45863A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346F9A01-EF14-F2E2-32BA-E9297E9972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05926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960095A-772A-BE0D-54EF-C0CAF3E0C771}"/>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CD421668-D5B2-60A7-D872-F396E7F192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24774540-E009-F3B1-B8B1-261485F2DA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50184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0901EE55-440C-7E29-0023-35DAD4F50315}"/>
            </a:ext>
          </a:extLst>
        </p:cNvPr>
        <p:cNvGrpSpPr/>
        <p:nvPr/>
      </p:nvGrpSpPr>
      <p:grpSpPr>
        <a:xfrm>
          <a:off x="0" y="0"/>
          <a:ext cx="0" cy="0"/>
          <a:chOff x="0" y="0"/>
          <a:chExt cx="0" cy="0"/>
        </a:xfrm>
      </p:grpSpPr>
      <p:sp>
        <p:nvSpPr>
          <p:cNvPr id="211" name="Google Shape;211;p1:notes">
            <a:extLst>
              <a:ext uri="{FF2B5EF4-FFF2-40B4-BE49-F238E27FC236}">
                <a16:creationId xmlns:a16="http://schemas.microsoft.com/office/drawing/2014/main" id="{92A6CF07-A5BF-5E1C-4330-397FCA8A727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notes">
            <a:extLst>
              <a:ext uri="{FF2B5EF4-FFF2-40B4-BE49-F238E27FC236}">
                <a16:creationId xmlns:a16="http://schemas.microsoft.com/office/drawing/2014/main" id="{9EE63773-883F-C3BC-C62E-EA688AEA2C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4379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CBF4CE4E-C269-4A7D-C483-6B29437C48D0}"/>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5EEB1A49-8BF9-8642-83E4-50294344EA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24ABB77E-22E8-EAA8-B9DF-189069EC92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6624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12E5BEF-0EF7-F137-2795-FDC2A733AE83}"/>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F86B1D03-EFCB-65F7-084B-A23E0A02AA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5CCC2CC8-4936-9CB6-111C-93634D6362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12150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77C6402-85BB-120E-C2EB-39E191326BC2}"/>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6BDD2C86-D00D-AA85-59CD-01EE1041A9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831CC06E-5ECF-7092-E0C8-14B5B1F3AF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87538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87208C43-575F-CB38-3F61-08AC2440E73B}"/>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61D274C5-DD61-C19E-2A7B-D56C2808B22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36A1ECE4-A7F3-AF70-0888-31559AC076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6818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65CF753-2050-992E-35D4-9C61A35879A7}"/>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FE13B5DD-5D86-2826-2D10-4F9043C787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938E7F54-5C31-114A-F98F-63AE196BFC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69009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5687370-4B5B-0F47-882C-36B2230DD766}"/>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878DDC49-0E3C-506D-FB79-792F932115F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3A759B43-B71F-A6C8-1BC8-FC01320752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36406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0396236-5E55-DC04-D467-CBC7938A34CC}"/>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809693FD-5072-1346-E9ED-9CFE768395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06B91DB9-CAAF-C71A-26F3-996C1B50A7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00938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7C2BEDCB-FE6E-643F-0D97-37AC8DB9277B}"/>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A3F73278-F38E-60C2-E7E7-FEF35874103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1C99C34C-8E8E-F3C2-A76C-00B6EAF8C0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84245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C49B0787-804E-EE54-AE3A-1E6B4EB1C4AA}"/>
            </a:ext>
          </a:extLst>
        </p:cNvPr>
        <p:cNvGrpSpPr/>
        <p:nvPr/>
      </p:nvGrpSpPr>
      <p:grpSpPr>
        <a:xfrm>
          <a:off x="0" y="0"/>
          <a:ext cx="0" cy="0"/>
          <a:chOff x="0" y="0"/>
          <a:chExt cx="0" cy="0"/>
        </a:xfrm>
      </p:grpSpPr>
      <p:sp>
        <p:nvSpPr>
          <p:cNvPr id="231" name="Google Shape;231;p3:notes">
            <a:extLst>
              <a:ext uri="{FF2B5EF4-FFF2-40B4-BE49-F238E27FC236}">
                <a16:creationId xmlns:a16="http://schemas.microsoft.com/office/drawing/2014/main" id="{CB820F3D-39DE-45BB-EEE2-AF6B557288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3:notes">
            <a:extLst>
              <a:ext uri="{FF2B5EF4-FFF2-40B4-BE49-F238E27FC236}">
                <a16:creationId xmlns:a16="http://schemas.microsoft.com/office/drawing/2014/main" id="{C4E7B547-0AD7-0C87-A1F6-6B3356C483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42797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A9C6E861-D0F9-94E7-5661-FEF9E66D2705}"/>
            </a:ext>
          </a:extLst>
        </p:cNvPr>
        <p:cNvGrpSpPr/>
        <p:nvPr/>
      </p:nvGrpSpPr>
      <p:grpSpPr>
        <a:xfrm>
          <a:off x="0" y="0"/>
          <a:ext cx="0" cy="0"/>
          <a:chOff x="0" y="0"/>
          <a:chExt cx="0" cy="0"/>
        </a:xfrm>
      </p:grpSpPr>
      <p:sp>
        <p:nvSpPr>
          <p:cNvPr id="211" name="Google Shape;211;p1:notes">
            <a:extLst>
              <a:ext uri="{FF2B5EF4-FFF2-40B4-BE49-F238E27FC236}">
                <a16:creationId xmlns:a16="http://schemas.microsoft.com/office/drawing/2014/main" id="{BFF2EA57-76E9-401D-987B-11BDDD8282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notes">
            <a:extLst>
              <a:ext uri="{FF2B5EF4-FFF2-40B4-BE49-F238E27FC236}">
                <a16:creationId xmlns:a16="http://schemas.microsoft.com/office/drawing/2014/main" id="{5AFAD3EE-B3F3-F626-9B3F-77EC5BD4CC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99823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a:extLst>
            <a:ext uri="{FF2B5EF4-FFF2-40B4-BE49-F238E27FC236}">
              <a16:creationId xmlns:a16="http://schemas.microsoft.com/office/drawing/2014/main" id="{55B2F4CC-CB55-C64E-FBF5-134C39F39C9B}"/>
            </a:ext>
          </a:extLst>
        </p:cNvPr>
        <p:cNvGrpSpPr/>
        <p:nvPr/>
      </p:nvGrpSpPr>
      <p:grpSpPr>
        <a:xfrm>
          <a:off x="0" y="0"/>
          <a:ext cx="0" cy="0"/>
          <a:chOff x="0" y="0"/>
          <a:chExt cx="0" cy="0"/>
        </a:xfrm>
      </p:grpSpPr>
      <p:sp>
        <p:nvSpPr>
          <p:cNvPr id="710" name="Google Shape;710;p33:notes">
            <a:extLst>
              <a:ext uri="{FF2B5EF4-FFF2-40B4-BE49-F238E27FC236}">
                <a16:creationId xmlns:a16="http://schemas.microsoft.com/office/drawing/2014/main" id="{70B5CF8C-5E20-A02C-C64F-8204456813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33:notes">
            <a:extLst>
              <a:ext uri="{FF2B5EF4-FFF2-40B4-BE49-F238E27FC236}">
                <a16:creationId xmlns:a16="http://schemas.microsoft.com/office/drawing/2014/main" id="{CF8632DF-B2EB-80C4-3334-F3CC5661AC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0164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a:extLst>
            <a:ext uri="{FF2B5EF4-FFF2-40B4-BE49-F238E27FC236}">
              <a16:creationId xmlns:a16="http://schemas.microsoft.com/office/drawing/2014/main" id="{43176C72-72BB-53FE-8004-58E271A9A0A7}"/>
            </a:ext>
          </a:extLst>
        </p:cNvPr>
        <p:cNvGrpSpPr/>
        <p:nvPr/>
      </p:nvGrpSpPr>
      <p:grpSpPr>
        <a:xfrm>
          <a:off x="0" y="0"/>
          <a:ext cx="0" cy="0"/>
          <a:chOff x="0" y="0"/>
          <a:chExt cx="0" cy="0"/>
        </a:xfrm>
      </p:grpSpPr>
      <p:sp>
        <p:nvSpPr>
          <p:cNvPr id="710" name="Google Shape;710;p33:notes">
            <a:extLst>
              <a:ext uri="{FF2B5EF4-FFF2-40B4-BE49-F238E27FC236}">
                <a16:creationId xmlns:a16="http://schemas.microsoft.com/office/drawing/2014/main" id="{BA6E6BBF-DD20-4AFA-7462-9822B8D52FB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33:notes">
            <a:extLst>
              <a:ext uri="{FF2B5EF4-FFF2-40B4-BE49-F238E27FC236}">
                <a16:creationId xmlns:a16="http://schemas.microsoft.com/office/drawing/2014/main" id="{A677E92B-61BB-B3E6-389F-C372C6FE7A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46812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a:extLst>
            <a:ext uri="{FF2B5EF4-FFF2-40B4-BE49-F238E27FC236}">
              <a16:creationId xmlns:a16="http://schemas.microsoft.com/office/drawing/2014/main" id="{2632B879-8AFE-A9D5-B141-E56EA1764D28}"/>
            </a:ext>
          </a:extLst>
        </p:cNvPr>
        <p:cNvGrpSpPr/>
        <p:nvPr/>
      </p:nvGrpSpPr>
      <p:grpSpPr>
        <a:xfrm>
          <a:off x="0" y="0"/>
          <a:ext cx="0" cy="0"/>
          <a:chOff x="0" y="0"/>
          <a:chExt cx="0" cy="0"/>
        </a:xfrm>
      </p:grpSpPr>
      <p:sp>
        <p:nvSpPr>
          <p:cNvPr id="710" name="Google Shape;710;p33:notes">
            <a:extLst>
              <a:ext uri="{FF2B5EF4-FFF2-40B4-BE49-F238E27FC236}">
                <a16:creationId xmlns:a16="http://schemas.microsoft.com/office/drawing/2014/main" id="{42F9BEF2-1850-824D-0F8E-DDB60C9D2B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33:notes">
            <a:extLst>
              <a:ext uri="{FF2B5EF4-FFF2-40B4-BE49-F238E27FC236}">
                <a16:creationId xmlns:a16="http://schemas.microsoft.com/office/drawing/2014/main" id="{26B1E692-546A-1E94-6761-1709D45093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83831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9A360E37-566D-DCBE-9BC0-495B4AF36E57}"/>
            </a:ext>
          </a:extLst>
        </p:cNvPr>
        <p:cNvGrpSpPr/>
        <p:nvPr/>
      </p:nvGrpSpPr>
      <p:grpSpPr>
        <a:xfrm>
          <a:off x="0" y="0"/>
          <a:ext cx="0" cy="0"/>
          <a:chOff x="0" y="0"/>
          <a:chExt cx="0" cy="0"/>
        </a:xfrm>
      </p:grpSpPr>
      <p:sp>
        <p:nvSpPr>
          <p:cNvPr id="211" name="Google Shape;211;p1:notes">
            <a:extLst>
              <a:ext uri="{FF2B5EF4-FFF2-40B4-BE49-F238E27FC236}">
                <a16:creationId xmlns:a16="http://schemas.microsoft.com/office/drawing/2014/main" id="{D32EECFE-40C0-1F7D-BE06-96489B8B8A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notes">
            <a:extLst>
              <a:ext uri="{FF2B5EF4-FFF2-40B4-BE49-F238E27FC236}">
                <a16:creationId xmlns:a16="http://schemas.microsoft.com/office/drawing/2014/main" id="{0A7228A2-2376-F720-3CEC-F1EE6BEDB8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88371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12/30/2024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1668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12/30/2024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94284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12/30/2024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09901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12/30/2024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2015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12/30/2024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417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12/30/2024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32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12/30/2024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040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12/30/2024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8283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12/30/2024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176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12/30/2024</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1922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12/30/2024</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9987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with Image">
  <p:cSld name="Title Slide with Image">
    <p:spTree>
      <p:nvGrpSpPr>
        <p:cNvPr id="1" name="Shape 13"/>
        <p:cNvGrpSpPr/>
        <p:nvPr/>
      </p:nvGrpSpPr>
      <p:grpSpPr>
        <a:xfrm>
          <a:off x="0" y="0"/>
          <a:ext cx="0" cy="0"/>
          <a:chOff x="0" y="0"/>
          <a:chExt cx="0" cy="0"/>
        </a:xfrm>
      </p:grpSpPr>
      <p:sp>
        <p:nvSpPr>
          <p:cNvPr id="14" name="Google Shape;14;p23"/>
          <p:cNvSpPr/>
          <p:nvPr/>
        </p:nvSpPr>
        <p:spPr>
          <a:xfrm rot="10800000" flipH="1">
            <a:off x="0" y="-6"/>
            <a:ext cx="10625328" cy="540411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5" name="Google Shape;15;p23"/>
          <p:cNvCxnSpPr/>
          <p:nvPr/>
        </p:nvCxnSpPr>
        <p:spPr>
          <a:xfrm rot="10800000" flipH="1">
            <a:off x="0" y="0"/>
            <a:ext cx="6030686" cy="3004456"/>
          </a:xfrm>
          <a:prstGeom prst="straightConnector1">
            <a:avLst/>
          </a:prstGeom>
          <a:noFill/>
          <a:ln w="9525" cap="flat" cmpd="sng">
            <a:solidFill>
              <a:srgbClr val="A5A5A5"/>
            </a:solidFill>
            <a:prstDash val="solid"/>
            <a:miter lim="800000"/>
            <a:headEnd type="none" w="sm" len="sm"/>
            <a:tailEnd type="none" w="sm" len="sm"/>
          </a:ln>
        </p:spPr>
      </p:cxnSp>
      <p:sp>
        <p:nvSpPr>
          <p:cNvPr id="16" name="Google Shape;16;p23"/>
          <p:cNvSpPr>
            <a:spLocks noGrp="1"/>
          </p:cNvSpPr>
          <p:nvPr>
            <p:ph type="pic" idx="2"/>
          </p:nvPr>
        </p:nvSpPr>
        <p:spPr>
          <a:xfrm>
            <a:off x="1683398" y="860944"/>
            <a:ext cx="4428523" cy="5137089"/>
          </a:xfrm>
          <a:prstGeom prst="rect">
            <a:avLst/>
          </a:prstGeom>
          <a:noFill/>
          <a:ln>
            <a:noFill/>
          </a:ln>
        </p:spPr>
      </p:sp>
      <p:cxnSp>
        <p:nvCxnSpPr>
          <p:cNvPr id="17" name="Google Shape;17;p23"/>
          <p:cNvCxnSpPr/>
          <p:nvPr/>
        </p:nvCxnSpPr>
        <p:spPr>
          <a:xfrm rot="10800000" flipH="1">
            <a:off x="9004301" y="3924299"/>
            <a:ext cx="3187700" cy="1689100"/>
          </a:xfrm>
          <a:prstGeom prst="straightConnector1">
            <a:avLst/>
          </a:prstGeom>
          <a:noFill/>
          <a:ln w="9525" cap="flat" cmpd="sng">
            <a:solidFill>
              <a:schemeClr val="accent2"/>
            </a:solidFill>
            <a:prstDash val="solid"/>
            <a:miter lim="800000"/>
            <a:headEnd type="none" w="sm" len="sm"/>
            <a:tailEnd type="none" w="sm" len="sm"/>
          </a:ln>
        </p:spPr>
      </p:cxnSp>
      <p:sp>
        <p:nvSpPr>
          <p:cNvPr id="18" name="Google Shape;18;p23" title="Title"/>
          <p:cNvSpPr txBox="1">
            <a:spLocks noGrp="1"/>
          </p:cNvSpPr>
          <p:nvPr>
            <p:ph type="ctrTitle"/>
          </p:nvPr>
        </p:nvSpPr>
        <p:spPr>
          <a:xfrm>
            <a:off x="6375721" y="2006084"/>
            <a:ext cx="4853573" cy="1616252"/>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accent1"/>
              </a:buClr>
              <a:buSzPts val="4300"/>
              <a:buFont typeface="Calibri"/>
              <a:buNone/>
              <a:defRPr sz="43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title="Subtitle"/>
          <p:cNvSpPr txBox="1">
            <a:spLocks noGrp="1"/>
          </p:cNvSpPr>
          <p:nvPr>
            <p:ph type="subTitle" idx="1"/>
          </p:nvPr>
        </p:nvSpPr>
        <p:spPr>
          <a:xfrm>
            <a:off x="6375214" y="3640998"/>
            <a:ext cx="4854339" cy="125757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2E7A40"/>
              </a:buClr>
              <a:buSzPts val="2400"/>
              <a:buFont typeface="Arial"/>
              <a:buNone/>
              <a:defRPr sz="2400" b="0" i="0" u="none" strike="noStrike" cap="none">
                <a:solidFill>
                  <a:schemeClr val="accent6"/>
                </a:solidFill>
                <a:latin typeface="Calibri"/>
                <a:ea typeface="Calibri"/>
                <a:cs typeface="Calibri"/>
                <a:sym typeface="Calibri"/>
              </a:defRPr>
            </a:lvl1pPr>
            <a:lvl2pPr marR="0" lvl="1" algn="ctr" rtl="0">
              <a:lnSpc>
                <a:spcPct val="90000"/>
              </a:lnSpc>
              <a:spcBef>
                <a:spcPts val="500"/>
              </a:spcBef>
              <a:spcAft>
                <a:spcPts val="0"/>
              </a:spcAft>
              <a:buClr>
                <a:srgbClr val="2E7A40"/>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rgbClr val="2E7A40"/>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rgbClr val="2E7A40"/>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cxnSp>
        <p:nvCxnSpPr>
          <p:cNvPr id="20" name="Google Shape;20;p23"/>
          <p:cNvCxnSpPr/>
          <p:nvPr/>
        </p:nvCxnSpPr>
        <p:spPr>
          <a:xfrm rot="10800000" flipH="1">
            <a:off x="-17837" y="4700016"/>
            <a:ext cx="1919789" cy="1001054"/>
          </a:xfrm>
          <a:prstGeom prst="straightConnector1">
            <a:avLst/>
          </a:prstGeom>
          <a:noFill/>
          <a:ln w="9525" cap="flat" cmpd="sng">
            <a:solidFill>
              <a:schemeClr val="accent1"/>
            </a:solidFill>
            <a:prstDash val="solid"/>
            <a:miter lim="800000"/>
            <a:headEnd type="none" w="sm" len="sm"/>
            <a:tailEnd type="none" w="sm" len="sm"/>
          </a:ln>
        </p:spPr>
      </p:cxnSp>
    </p:spTree>
    <p:extLst>
      <p:ext uri="{BB962C8B-B14F-4D97-AF65-F5344CB8AC3E}">
        <p14:creationId xmlns:p14="http://schemas.microsoft.com/office/powerpoint/2010/main" val="4189139235"/>
      </p:ext>
    </p:extLst>
  </p:cSld>
  <p:clrMapOvr>
    <a:masterClrMapping/>
  </p:clrMapOvr>
  <p:extLst>
    <p:ext uri="{DCECCB84-F9BA-43D5-87BE-67443E8EF086}">
      <p15:sldGuideLst xmlns:p15="http://schemas.microsoft.com/office/powerpoint/2012/main">
        <p15:guide id="1" orient="horz" pos="2160">
          <p15:clr>
            <a:srgbClr val="FBAE40"/>
          </p15:clr>
        </p15:guide>
        <p15:guide id="2" pos="7537">
          <p15:clr>
            <a:srgbClr val="FBAE40"/>
          </p15:clr>
        </p15:guide>
        <p15:guide id="3" pos="138">
          <p15:clr>
            <a:srgbClr val="FBAE40"/>
          </p15:clr>
        </p15:guide>
        <p15:guide id="4" orient="horz" pos="4178">
          <p15:clr>
            <a:srgbClr val="FBAE40"/>
          </p15:clr>
        </p15:guide>
        <p15:guide id="5" orient="horz" pos="142">
          <p15:clr>
            <a:srgbClr val="FBAE40"/>
          </p15:clr>
        </p15:guide>
        <p15:guide id="6" pos="2457">
          <p15:clr>
            <a:srgbClr val="FBAE40"/>
          </p15:clr>
        </p15:guide>
        <p15:guide id="7" pos="43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76"/>
        <p:cNvGrpSpPr/>
        <p:nvPr/>
      </p:nvGrpSpPr>
      <p:grpSpPr>
        <a:xfrm>
          <a:off x="0" y="0"/>
          <a:ext cx="0" cy="0"/>
          <a:chOff x="0" y="0"/>
          <a:chExt cx="0" cy="0"/>
        </a:xfrm>
      </p:grpSpPr>
      <p:sp>
        <p:nvSpPr>
          <p:cNvPr id="77" name="Google Shape;77;p29" title="Title"/>
          <p:cNvSpPr txBox="1">
            <a:spLocks noGrp="1"/>
          </p:cNvSpPr>
          <p:nvPr>
            <p:ph type="ctrTitle"/>
          </p:nvPr>
        </p:nvSpPr>
        <p:spPr>
          <a:xfrm>
            <a:off x="6375721" y="1821022"/>
            <a:ext cx="4853573" cy="1616252"/>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accent1"/>
              </a:buClr>
              <a:buSzPts val="4300"/>
              <a:buFont typeface="Calibri"/>
              <a:buNone/>
              <a:defRPr sz="43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9"/>
          <p:cNvSpPr txBox="1">
            <a:spLocks noGrp="1"/>
          </p:cNvSpPr>
          <p:nvPr>
            <p:ph type="body" idx="1"/>
          </p:nvPr>
        </p:nvSpPr>
        <p:spPr>
          <a:xfrm>
            <a:off x="6822929" y="3461163"/>
            <a:ext cx="3445782" cy="28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rgbClr val="2E7A40"/>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29"/>
          <p:cNvSpPr txBox="1">
            <a:spLocks noGrp="1"/>
          </p:cNvSpPr>
          <p:nvPr>
            <p:ph type="body" idx="2"/>
          </p:nvPr>
        </p:nvSpPr>
        <p:spPr>
          <a:xfrm>
            <a:off x="6822929" y="3839451"/>
            <a:ext cx="3445782" cy="28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rgbClr val="2E7A40"/>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29"/>
          <p:cNvSpPr txBox="1">
            <a:spLocks noGrp="1"/>
          </p:cNvSpPr>
          <p:nvPr>
            <p:ph type="body" idx="3"/>
          </p:nvPr>
        </p:nvSpPr>
        <p:spPr>
          <a:xfrm>
            <a:off x="6822928" y="4216669"/>
            <a:ext cx="3445783" cy="28907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rgbClr val="2E7A40"/>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29"/>
          <p:cNvSpPr txBox="1">
            <a:spLocks noGrp="1"/>
          </p:cNvSpPr>
          <p:nvPr>
            <p:ph type="body" idx="4"/>
          </p:nvPr>
        </p:nvSpPr>
        <p:spPr>
          <a:xfrm>
            <a:off x="6822929" y="4594957"/>
            <a:ext cx="3445782" cy="28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rgbClr val="2E7A40"/>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29"/>
          <p:cNvSpPr/>
          <p:nvPr/>
        </p:nvSpPr>
        <p:spPr>
          <a:xfrm>
            <a:off x="6458938" y="3505247"/>
            <a:ext cx="258875" cy="258875"/>
          </a:xfrm>
          <a:custGeom>
            <a:avLst/>
            <a:gdLst/>
            <a:ahLst/>
            <a:cxnLst/>
            <a:rect l="l" t="t"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29"/>
          <p:cNvSpPr/>
          <p:nvPr/>
        </p:nvSpPr>
        <p:spPr>
          <a:xfrm>
            <a:off x="6507622" y="3897986"/>
            <a:ext cx="161507" cy="296095"/>
          </a:xfrm>
          <a:custGeom>
            <a:avLst/>
            <a:gdLst/>
            <a:ahLst/>
            <a:cxnLst/>
            <a:rect l="l" t="t" r="r" b="b"/>
            <a:pathLst>
              <a:path w="21600" h="21600" extrusionOk="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None/>
            </a:pPr>
            <a:endParaRPr sz="1800">
              <a:solidFill>
                <a:schemeClr val="dk1"/>
              </a:solidFill>
              <a:latin typeface="Calibri"/>
              <a:ea typeface="Calibri"/>
              <a:cs typeface="Calibri"/>
              <a:sym typeface="Calibri"/>
            </a:endParaRPr>
          </a:p>
        </p:txBody>
      </p:sp>
      <p:sp>
        <p:nvSpPr>
          <p:cNvPr id="84" name="Google Shape;84;p29"/>
          <p:cNvSpPr/>
          <p:nvPr/>
        </p:nvSpPr>
        <p:spPr>
          <a:xfrm>
            <a:off x="6458938" y="4327945"/>
            <a:ext cx="258875" cy="188273"/>
          </a:xfrm>
          <a:custGeom>
            <a:avLst/>
            <a:gdLst/>
            <a:ahLst/>
            <a:cxnLst/>
            <a:rect l="l" t="t"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29"/>
          <p:cNvSpPr/>
          <p:nvPr/>
        </p:nvSpPr>
        <p:spPr>
          <a:xfrm>
            <a:off x="6471716" y="4650082"/>
            <a:ext cx="233318" cy="233318"/>
          </a:xfrm>
          <a:custGeom>
            <a:avLst/>
            <a:gdLst/>
            <a:ahLst/>
            <a:cxnLst/>
            <a:rect l="l" t="t"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29"/>
          <p:cNvSpPr/>
          <p:nvPr/>
        </p:nvSpPr>
        <p:spPr>
          <a:xfrm rot="10800000" flipH="1">
            <a:off x="0" y="-6"/>
            <a:ext cx="10625328" cy="5404110"/>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7" name="Google Shape;87;p29"/>
          <p:cNvCxnSpPr/>
          <p:nvPr/>
        </p:nvCxnSpPr>
        <p:spPr>
          <a:xfrm rot="10800000" flipH="1">
            <a:off x="0" y="0"/>
            <a:ext cx="6030686" cy="3004456"/>
          </a:xfrm>
          <a:prstGeom prst="straightConnector1">
            <a:avLst/>
          </a:prstGeom>
          <a:noFill/>
          <a:ln w="9525" cap="flat" cmpd="sng">
            <a:solidFill>
              <a:srgbClr val="A5A5A5"/>
            </a:solidFill>
            <a:prstDash val="solid"/>
            <a:miter lim="800000"/>
            <a:headEnd type="none" w="sm" len="sm"/>
            <a:tailEnd type="none" w="sm" len="sm"/>
          </a:ln>
        </p:spPr>
      </p:cxnSp>
      <p:cxnSp>
        <p:nvCxnSpPr>
          <p:cNvPr id="88" name="Google Shape;88;p29"/>
          <p:cNvCxnSpPr/>
          <p:nvPr/>
        </p:nvCxnSpPr>
        <p:spPr>
          <a:xfrm rot="10800000" flipH="1">
            <a:off x="9004301" y="3924299"/>
            <a:ext cx="3187700" cy="1689100"/>
          </a:xfrm>
          <a:prstGeom prst="straightConnector1">
            <a:avLst/>
          </a:prstGeom>
          <a:noFill/>
          <a:ln w="9525" cap="flat" cmpd="sng">
            <a:solidFill>
              <a:schemeClr val="accent2"/>
            </a:solidFill>
            <a:prstDash val="solid"/>
            <a:miter lim="800000"/>
            <a:headEnd type="none" w="sm" len="sm"/>
            <a:tailEnd type="none" w="sm" len="sm"/>
          </a:ln>
        </p:spPr>
      </p:cxnSp>
      <p:cxnSp>
        <p:nvCxnSpPr>
          <p:cNvPr id="89" name="Google Shape;89;p29"/>
          <p:cNvCxnSpPr/>
          <p:nvPr/>
        </p:nvCxnSpPr>
        <p:spPr>
          <a:xfrm rot="10800000" flipH="1">
            <a:off x="-17837" y="4700016"/>
            <a:ext cx="1919789" cy="1001054"/>
          </a:xfrm>
          <a:prstGeom prst="straightConnector1">
            <a:avLst/>
          </a:prstGeom>
          <a:noFill/>
          <a:ln w="9525" cap="flat" cmpd="sng">
            <a:solidFill>
              <a:schemeClr val="accent1"/>
            </a:solidFill>
            <a:prstDash val="solid"/>
            <a:miter lim="800000"/>
            <a:headEnd type="none" w="sm" len="sm"/>
            <a:tailEnd type="none" w="sm" len="sm"/>
          </a:ln>
        </p:spPr>
      </p:cxnSp>
      <p:sp>
        <p:nvSpPr>
          <p:cNvPr id="90" name="Google Shape;90;p29"/>
          <p:cNvSpPr>
            <a:spLocks noGrp="1"/>
          </p:cNvSpPr>
          <p:nvPr>
            <p:ph type="pic" idx="5"/>
          </p:nvPr>
        </p:nvSpPr>
        <p:spPr>
          <a:xfrm>
            <a:off x="1683398" y="860944"/>
            <a:ext cx="4428523" cy="5137089"/>
          </a:xfrm>
          <a:prstGeom prst="rect">
            <a:avLst/>
          </a:prstGeom>
          <a:noFill/>
          <a:ln>
            <a:noFill/>
          </a:ln>
        </p:spPr>
      </p:sp>
    </p:spTree>
    <p:extLst>
      <p:ext uri="{BB962C8B-B14F-4D97-AF65-F5344CB8AC3E}">
        <p14:creationId xmlns:p14="http://schemas.microsoft.com/office/powerpoint/2010/main" val="1277850992"/>
      </p:ext>
    </p:extLst>
  </p:cSld>
  <p:clrMapOvr>
    <a:masterClrMapping/>
  </p:clrMapOvr>
  <p:extLst>
    <p:ext uri="{DCECCB84-F9BA-43D5-87BE-67443E8EF086}">
      <p15:sldGuideLst xmlns:p15="http://schemas.microsoft.com/office/powerpoint/2012/main">
        <p15:guide id="1" orient="horz" pos="2160">
          <p15:clr>
            <a:srgbClr val="FBAE40"/>
          </p15:clr>
        </p15:guide>
        <p15:guide id="2" pos="7537">
          <p15:clr>
            <a:srgbClr val="FBAE40"/>
          </p15:clr>
        </p15:guide>
        <p15:guide id="3" pos="138">
          <p15:clr>
            <a:srgbClr val="FBAE40"/>
          </p15:clr>
        </p15:guide>
        <p15:guide id="4" orient="horz" pos="4178">
          <p15:clr>
            <a:srgbClr val="FBAE40"/>
          </p15:clr>
        </p15:guide>
        <p15:guide id="5" orient="horz" pos="142">
          <p15:clr>
            <a:srgbClr val="FBAE40"/>
          </p15:clr>
        </p15:guide>
        <p15:guide id="6" pos="2457">
          <p15:clr>
            <a:srgbClr val="FBAE40"/>
          </p15:clr>
        </p15:guide>
        <p15:guide id="7" pos="43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ext Layout 01">
  <p:cSld name="Text Layout 01">
    <p:spTree>
      <p:nvGrpSpPr>
        <p:cNvPr id="1" name="Shape 21"/>
        <p:cNvGrpSpPr/>
        <p:nvPr/>
      </p:nvGrpSpPr>
      <p:grpSpPr>
        <a:xfrm>
          <a:off x="0" y="0"/>
          <a:ext cx="0" cy="0"/>
          <a:chOff x="0" y="0"/>
          <a:chExt cx="0" cy="0"/>
        </a:xfrm>
      </p:grpSpPr>
      <p:sp>
        <p:nvSpPr>
          <p:cNvPr id="22" name="Google Shape;22;p24" title="Bullet Points"/>
          <p:cNvSpPr txBox="1">
            <a:spLocks noGrp="1"/>
          </p:cNvSpPr>
          <p:nvPr>
            <p:ph type="body" idx="1"/>
          </p:nvPr>
        </p:nvSpPr>
        <p:spPr>
          <a:xfrm>
            <a:off x="531378" y="3196915"/>
            <a:ext cx="4942829" cy="2958275"/>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accent2"/>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24"/>
          <p:cNvSpPr/>
          <p:nvPr/>
        </p:nvSpPr>
        <p:spPr>
          <a:xfrm rot="10800000">
            <a:off x="1839686" y="-6"/>
            <a:ext cx="10352314" cy="5638806"/>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 name="Google Shape;24;p24"/>
          <p:cNvSpPr/>
          <p:nvPr/>
        </p:nvSpPr>
        <p:spPr>
          <a:xfrm flipH="1">
            <a:off x="2978150" y="-5"/>
            <a:ext cx="4121150" cy="1308105"/>
          </a:xfrm>
          <a:prstGeom prst="parallelogram">
            <a:avLst>
              <a:gd name="adj" fmla="val 18638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5" name="Google Shape;25;p24"/>
          <p:cNvCxnSpPr/>
          <p:nvPr/>
        </p:nvCxnSpPr>
        <p:spPr>
          <a:xfrm rot="10800000" flipH="1">
            <a:off x="6375400" y="5047077"/>
            <a:ext cx="1524574" cy="1803400"/>
          </a:xfrm>
          <a:prstGeom prst="straightConnector1">
            <a:avLst/>
          </a:prstGeom>
          <a:noFill/>
          <a:ln w="9525" cap="flat" cmpd="sng">
            <a:solidFill>
              <a:srgbClr val="EAB200"/>
            </a:solidFill>
            <a:prstDash val="solid"/>
            <a:miter lim="800000"/>
            <a:headEnd type="none" w="sm" len="sm"/>
            <a:tailEnd type="none" w="sm" len="sm"/>
          </a:ln>
        </p:spPr>
      </p:cxnSp>
      <p:sp>
        <p:nvSpPr>
          <p:cNvPr id="26" name="Google Shape;26;p24" title="Subtitle"/>
          <p:cNvSpPr txBox="1">
            <a:spLocks noGrp="1"/>
          </p:cNvSpPr>
          <p:nvPr>
            <p:ph type="body" idx="2"/>
          </p:nvPr>
        </p:nvSpPr>
        <p:spPr>
          <a:xfrm>
            <a:off x="531379" y="2563477"/>
            <a:ext cx="7342631" cy="60889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2E7A40"/>
              </a:buClr>
              <a:buSzPts val="2000"/>
              <a:buFont typeface="Arial"/>
              <a:buNone/>
              <a:defRPr sz="20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500"/>
              </a:spcBef>
              <a:spcAft>
                <a:spcPts val="0"/>
              </a:spcAft>
              <a:buClr>
                <a:srgbClr val="2E7A40"/>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24" title="Title "/>
          <p:cNvSpPr txBox="1">
            <a:spLocks noGrp="1"/>
          </p:cNvSpPr>
          <p:nvPr>
            <p:ph type="title"/>
          </p:nvPr>
        </p:nvSpPr>
        <p:spPr>
          <a:xfrm>
            <a:off x="531378" y="1308484"/>
            <a:ext cx="7342622" cy="1215566"/>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accent1"/>
              </a:buClr>
              <a:buSzPts val="4400"/>
              <a:buFont typeface="Calibri"/>
              <a:buNone/>
              <a:defRPr sz="44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4"/>
          <p:cNvSpPr>
            <a:spLocks noGrp="1"/>
          </p:cNvSpPr>
          <p:nvPr>
            <p:ph type="pic" idx="3"/>
          </p:nvPr>
        </p:nvSpPr>
        <p:spPr>
          <a:xfrm>
            <a:off x="6604000" y="0"/>
            <a:ext cx="5588000" cy="6872249"/>
          </a:xfrm>
          <a:prstGeom prst="rect">
            <a:avLst/>
          </a:prstGeom>
          <a:solidFill>
            <a:srgbClr val="D8D8D8"/>
          </a:solidFill>
          <a:ln>
            <a:noFill/>
          </a:ln>
        </p:spPr>
      </p:sp>
      <p:sp>
        <p:nvSpPr>
          <p:cNvPr id="29" name="Google Shape;29;p24"/>
          <p:cNvSpPr txBox="1">
            <a:spLocks noGrp="1"/>
          </p:cNvSpPr>
          <p:nvPr>
            <p:ph type="ftr" idx="11"/>
          </p:nvPr>
        </p:nvSpPr>
        <p:spPr>
          <a:xfrm>
            <a:off x="338530" y="6356350"/>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4"/>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17381927"/>
      </p:ext>
    </p:extLst>
  </p:cSld>
  <p:clrMapOvr>
    <a:masterClrMapping/>
  </p:clrMapOvr>
  <p:extLst>
    <p:ext uri="{DCECCB84-F9BA-43D5-87BE-67443E8EF086}">
      <p15:sldGuideLst xmlns:p15="http://schemas.microsoft.com/office/powerpoint/2012/main">
        <p15:guide id="1" orient="horz" pos="142">
          <p15:clr>
            <a:srgbClr val="FBAE40"/>
          </p15:clr>
        </p15:guide>
        <p15:guide id="2" pos="3840">
          <p15:clr>
            <a:srgbClr val="FBAE40"/>
          </p15:clr>
        </p15:guide>
        <p15:guide id="3" pos="4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ext Layout 02">
  <p:cSld name="Text Layout 02">
    <p:spTree>
      <p:nvGrpSpPr>
        <p:cNvPr id="1" name="Shape 31"/>
        <p:cNvGrpSpPr/>
        <p:nvPr/>
      </p:nvGrpSpPr>
      <p:grpSpPr>
        <a:xfrm>
          <a:off x="0" y="0"/>
          <a:ext cx="0" cy="0"/>
          <a:chOff x="0" y="0"/>
          <a:chExt cx="0" cy="0"/>
        </a:xfrm>
      </p:grpSpPr>
      <p:sp>
        <p:nvSpPr>
          <p:cNvPr id="32" name="Google Shape;32;p25"/>
          <p:cNvSpPr/>
          <p:nvPr/>
        </p:nvSpPr>
        <p:spPr>
          <a:xfrm rot="10800000">
            <a:off x="1839686" y="-6"/>
            <a:ext cx="10352314" cy="5638806"/>
          </a:xfrm>
          <a:prstGeom prst="rtTriangl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 name="Google Shape;33;p25"/>
          <p:cNvSpPr>
            <a:spLocks noGrp="1"/>
          </p:cNvSpPr>
          <p:nvPr>
            <p:ph type="pic" idx="2"/>
          </p:nvPr>
        </p:nvSpPr>
        <p:spPr>
          <a:xfrm>
            <a:off x="6170177" y="1435100"/>
            <a:ext cx="6021821" cy="5422900"/>
          </a:xfrm>
          <a:prstGeom prst="rect">
            <a:avLst/>
          </a:prstGeom>
          <a:solidFill>
            <a:srgbClr val="D8D8D8"/>
          </a:solidFill>
          <a:ln>
            <a:noFill/>
          </a:ln>
        </p:spPr>
      </p:sp>
      <p:sp>
        <p:nvSpPr>
          <p:cNvPr id="34" name="Google Shape;34;p25" title="Bullet Points"/>
          <p:cNvSpPr txBox="1">
            <a:spLocks noGrp="1"/>
          </p:cNvSpPr>
          <p:nvPr>
            <p:ph type="body" idx="1"/>
          </p:nvPr>
        </p:nvSpPr>
        <p:spPr>
          <a:xfrm>
            <a:off x="531378" y="3196915"/>
            <a:ext cx="4942829" cy="2958275"/>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accent2"/>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25"/>
          <p:cNvSpPr/>
          <p:nvPr/>
        </p:nvSpPr>
        <p:spPr>
          <a:xfrm flipH="1">
            <a:off x="2978150" y="-5"/>
            <a:ext cx="4121150" cy="1308105"/>
          </a:xfrm>
          <a:prstGeom prst="parallelogram">
            <a:avLst>
              <a:gd name="adj" fmla="val 18638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6" name="Google Shape;36;p25"/>
          <p:cNvCxnSpPr/>
          <p:nvPr/>
        </p:nvCxnSpPr>
        <p:spPr>
          <a:xfrm rot="10800000" flipH="1">
            <a:off x="10352314" y="1185452"/>
            <a:ext cx="1839685" cy="1633948"/>
          </a:xfrm>
          <a:prstGeom prst="straightConnector1">
            <a:avLst/>
          </a:prstGeom>
          <a:noFill/>
          <a:ln w="9525" cap="flat" cmpd="sng">
            <a:solidFill>
              <a:schemeClr val="accent2"/>
            </a:solidFill>
            <a:prstDash val="solid"/>
            <a:miter lim="800000"/>
            <a:headEnd type="none" w="sm" len="sm"/>
            <a:tailEnd type="none" w="sm" len="sm"/>
          </a:ln>
        </p:spPr>
      </p:cxnSp>
      <p:sp>
        <p:nvSpPr>
          <p:cNvPr id="37" name="Google Shape;37;p25" title="Subtitle"/>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2E7A40"/>
              </a:buClr>
              <a:buSzPts val="2000"/>
              <a:buFont typeface="Arial"/>
              <a:buNone/>
              <a:defRPr sz="20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500"/>
              </a:spcBef>
              <a:spcAft>
                <a:spcPts val="0"/>
              </a:spcAft>
              <a:buClr>
                <a:srgbClr val="2E7A40"/>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25"/>
          <p:cNvSpPr txBox="1"/>
          <p:nvPr/>
        </p:nvSpPr>
        <p:spPr>
          <a:xfrm>
            <a:off x="11073384" y="237744"/>
            <a:ext cx="1032655" cy="6155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400" b="1">
                <a:solidFill>
                  <a:schemeClr val="accent1"/>
                </a:solidFill>
                <a:latin typeface="Arial Black"/>
                <a:ea typeface="Arial Black"/>
                <a:cs typeface="Arial Black"/>
                <a:sym typeface="Arial Black"/>
              </a:rPr>
              <a:t>NTI</a:t>
            </a:r>
            <a:endParaRPr/>
          </a:p>
        </p:txBody>
      </p:sp>
      <p:sp>
        <p:nvSpPr>
          <p:cNvPr id="39" name="Google Shape;39;p25" title="Title "/>
          <p:cNvSpPr txBox="1">
            <a:spLocks noGrp="1"/>
          </p:cNvSpPr>
          <p:nvPr>
            <p:ph type="title"/>
          </p:nvPr>
        </p:nvSpPr>
        <p:spPr>
          <a:xfrm>
            <a:off x="531378" y="1308484"/>
            <a:ext cx="7342622" cy="1215566"/>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accent1"/>
              </a:buClr>
              <a:buSzPts val="4400"/>
              <a:buFont typeface="Calibri"/>
              <a:buNone/>
              <a:defRPr sz="44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5"/>
          <p:cNvSpPr txBox="1">
            <a:spLocks noGrp="1"/>
          </p:cNvSpPr>
          <p:nvPr>
            <p:ph type="ftr" idx="11"/>
          </p:nvPr>
        </p:nvSpPr>
        <p:spPr>
          <a:xfrm>
            <a:off x="338530" y="6356350"/>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5"/>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32875862"/>
      </p:ext>
    </p:extLst>
  </p:cSld>
  <p:clrMapOvr>
    <a:masterClrMapping/>
  </p:clrMapOvr>
  <p:extLst>
    <p:ext uri="{DCECCB84-F9BA-43D5-87BE-67443E8EF086}">
      <p15:sldGuideLst xmlns:p15="http://schemas.microsoft.com/office/powerpoint/2012/main">
        <p15:guide id="1" orient="horz" pos="142">
          <p15:clr>
            <a:srgbClr val="FBAE40"/>
          </p15:clr>
        </p15:guide>
        <p15:guide id="2" pos="3840">
          <p15:clr>
            <a:srgbClr val="FBAE40"/>
          </p15:clr>
        </p15:guide>
        <p15:guide id="3" pos="41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12/30/2024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19427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55" r:id="rId6"/>
    <p:sldLayoutId id="2147483751" r:id="rId7"/>
    <p:sldLayoutId id="2147483752" r:id="rId8"/>
    <p:sldLayoutId id="2147483753" r:id="rId9"/>
    <p:sldLayoutId id="2147483754" r:id="rId10"/>
    <p:sldLayoutId id="2147483756" r:id="rId11"/>
    <p:sldLayoutId id="2147483763" r:id="rId12"/>
    <p:sldLayoutId id="2147483764" r:id="rId13"/>
    <p:sldLayoutId id="2147483765" r:id="rId14"/>
    <p:sldLayoutId id="2147483766" r:id="rId15"/>
  </p:sldLayoutIdLst>
  <p:hf sldNum="0" hdr="0" ftr="0" dt="0"/>
  <p:txStyles>
    <p:titleStyle>
      <a:lvl1pPr algn="l" defTabSz="914400" rtl="0" eaLnBrk="1" latinLnBrk="0" hangingPunct="1">
        <a:lnSpc>
          <a:spcPct val="90000"/>
        </a:lnSpc>
        <a:spcBef>
          <a:spcPct val="0"/>
        </a:spcBef>
        <a:buNone/>
        <a:defRPr sz="44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2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2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2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2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15.xm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15.xml"/><Relationship Id="rId5" Type="http://schemas.openxmlformats.org/officeDocument/2006/relationships/image" Target="../media/image570.png"/><Relationship Id="rId4" Type="http://schemas.openxmlformats.org/officeDocument/2006/relationships/customXml" Target="../ink/ink1.xml"/></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9.xml"/><Relationship Id="rId1" Type="http://schemas.openxmlformats.org/officeDocument/2006/relationships/slideLayout" Target="../slideLayouts/slideLayout15.xml"/><Relationship Id="rId5" Type="http://schemas.openxmlformats.org/officeDocument/2006/relationships/image" Target="../media/image64.png"/><Relationship Id="rId4" Type="http://schemas.openxmlformats.org/officeDocument/2006/relationships/image" Target="../media/image63.png"/></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hyperlink" Target="https://www.linkedin.com/in/mennatullahelsahy/" TargetMode="External"/><Relationship Id="rId4" Type="http://schemas.openxmlformats.org/officeDocument/2006/relationships/hyperlink" Target="mailto:mennatullahelsahy@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1" title="Building image"/>
          <p:cNvPicPr preferRelativeResize="0">
            <a:picLocks noGrp="1"/>
          </p:cNvPicPr>
          <p:nvPr>
            <p:ph type="pic" idx="2"/>
          </p:nvPr>
        </p:nvPicPr>
        <p:blipFill rotWithShape="1">
          <a:blip r:embed="rId3">
            <a:alphaModFix/>
          </a:blip>
          <a:srcRect l="20784" r="20784"/>
          <a:stretch/>
        </p:blipFill>
        <p:spPr>
          <a:xfrm>
            <a:off x="1683398" y="860944"/>
            <a:ext cx="4428523" cy="5137089"/>
          </a:xfrm>
          <a:prstGeom prst="rect">
            <a:avLst/>
          </a:prstGeom>
          <a:noFill/>
          <a:ln>
            <a:noFill/>
          </a:ln>
        </p:spPr>
      </p:pic>
      <p:sp>
        <p:nvSpPr>
          <p:cNvPr id="215" name="Google Shape;215;p1" descr="Solid dark colored hexagon in the middle of image accent"/>
          <p:cNvSpPr/>
          <p:nvPr/>
        </p:nvSpPr>
        <p:spPr>
          <a:xfrm rot="-5400000">
            <a:off x="2679702" y="2388914"/>
            <a:ext cx="2412998" cy="2080172"/>
          </a:xfrm>
          <a:prstGeom prst="hexagon">
            <a:avLst>
              <a:gd name="adj" fmla="val 25000"/>
              <a:gd name="vf" fmla="val 115470"/>
            </a:avLst>
          </a:prstGeom>
          <a:solidFill>
            <a:srgbClr val="0019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
          <p:cNvSpPr txBox="1"/>
          <p:nvPr/>
        </p:nvSpPr>
        <p:spPr>
          <a:xfrm>
            <a:off x="3056723" y="2921167"/>
            <a:ext cx="168187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0" u="none" strike="noStrike" cap="none">
                <a:solidFill>
                  <a:schemeClr val="lt1"/>
                </a:solidFill>
                <a:latin typeface="Arial Black"/>
                <a:ea typeface="Arial Black"/>
                <a:cs typeface="Arial Black"/>
                <a:sym typeface="Arial Black"/>
              </a:rPr>
              <a:t>NTI</a:t>
            </a:r>
            <a:endParaRPr/>
          </a:p>
        </p:txBody>
      </p:sp>
      <p:sp>
        <p:nvSpPr>
          <p:cNvPr id="217" name="Google Shape;217;p1"/>
          <p:cNvSpPr txBox="1">
            <a:spLocks noGrp="1"/>
          </p:cNvSpPr>
          <p:nvPr>
            <p:ph type="ctrTitle"/>
          </p:nvPr>
        </p:nvSpPr>
        <p:spPr>
          <a:xfrm>
            <a:off x="6375721" y="2006084"/>
            <a:ext cx="4853573" cy="1616252"/>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accent1"/>
              </a:buClr>
              <a:buSzPts val="4300"/>
              <a:buFont typeface="Calibri"/>
              <a:buNone/>
            </a:pPr>
            <a:r>
              <a:rPr lang="en-US" sz="5000" dirty="0"/>
              <a:t>Data Bases</a:t>
            </a:r>
            <a:endParaRPr sz="5000" dirty="0"/>
          </a:p>
        </p:txBody>
      </p:sp>
      <p:sp>
        <p:nvSpPr>
          <p:cNvPr id="218" name="Google Shape;218;p1"/>
          <p:cNvSpPr txBox="1">
            <a:spLocks noGrp="1"/>
          </p:cNvSpPr>
          <p:nvPr>
            <p:ph type="subTitle" idx="1"/>
          </p:nvPr>
        </p:nvSpPr>
        <p:spPr>
          <a:xfrm>
            <a:off x="6375214" y="3640998"/>
            <a:ext cx="4854339" cy="12575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400"/>
              <a:buNone/>
            </a:pPr>
            <a:r>
              <a:rPr lang="en-US"/>
              <a:t> </a:t>
            </a:r>
            <a:endParaRPr/>
          </a:p>
        </p:txBody>
      </p:sp>
      <p:sp>
        <p:nvSpPr>
          <p:cNvPr id="219" name="Google Shape;219;p1"/>
          <p:cNvSpPr txBox="1"/>
          <p:nvPr/>
        </p:nvSpPr>
        <p:spPr>
          <a:xfrm>
            <a:off x="2808015" y="3828239"/>
            <a:ext cx="3021285" cy="5150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E7A40"/>
              </a:buClr>
              <a:buSzPts val="1400"/>
              <a:buFont typeface="Arial"/>
              <a:buNone/>
            </a:pPr>
            <a:r>
              <a:rPr lang="en-US" sz="1400" b="1" i="0" u="none">
                <a:solidFill>
                  <a:schemeClr val="lt1"/>
                </a:solidFill>
                <a:latin typeface="Jacques Francois Shadow"/>
                <a:ea typeface="Jacques Francois Shadow"/>
                <a:cs typeface="Jacques Francois Shadow"/>
                <a:sym typeface="Jacques Francois Shadow"/>
              </a:rPr>
              <a:t>Data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70C1DD87-3E56-1D9B-BFFD-62850D806A57}"/>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468E8049-112E-6074-6BC8-BA5EF91462C3}"/>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9B842D4F-02A2-97DC-C9BB-B13772816AF9}"/>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a:t>
            </a:fld>
            <a:endParaRPr lang="en-US"/>
          </a:p>
        </p:txBody>
      </p:sp>
      <p:sp>
        <p:nvSpPr>
          <p:cNvPr id="3" name="Title 2">
            <a:extLst>
              <a:ext uri="{FF2B5EF4-FFF2-40B4-BE49-F238E27FC236}">
                <a16:creationId xmlns:a16="http://schemas.microsoft.com/office/drawing/2014/main" id="{3105FFE9-65E7-3569-3587-E648FB41D2F5}"/>
              </a:ext>
            </a:extLst>
          </p:cNvPr>
          <p:cNvSpPr>
            <a:spLocks noGrp="1"/>
          </p:cNvSpPr>
          <p:nvPr>
            <p:ph type="title"/>
          </p:nvPr>
        </p:nvSpPr>
        <p:spPr>
          <a:xfrm>
            <a:off x="-92364" y="1698698"/>
            <a:ext cx="6954982" cy="4500634"/>
          </a:xfrm>
        </p:spPr>
        <p:txBody>
          <a:bodyPr>
            <a:noAutofit/>
          </a:bodyPr>
          <a:lstStyle/>
          <a:p>
            <a:pPr marL="342900" indent="-342900">
              <a:buClr>
                <a:schemeClr val="tx2"/>
              </a:buClr>
              <a:buSzPct val="100000"/>
              <a:buFont typeface="Wingdings" panose="05000000000000000000" pitchFamily="2" charset="2"/>
              <a:buChar char="Ø"/>
            </a:pPr>
            <a:r>
              <a:rPr lang="en-US" sz="2200" b="0" dirty="0">
                <a:solidFill>
                  <a:srgbClr val="002060"/>
                </a:solidFill>
                <a:latin typeface="Calibri" panose="020F0502020204030204" pitchFamily="34" charset="0"/>
                <a:cs typeface="Calibri" panose="020F0502020204030204" pitchFamily="34" charset="0"/>
              </a:rPr>
              <a:t>These are the three types of data types which lead directly to the type of the data repository where such data type can be extracted, transformed, and loaded into.</a:t>
            </a:r>
            <a:br>
              <a:rPr lang="en-US" sz="2200" b="0" dirty="0">
                <a:solidFill>
                  <a:srgbClr val="002060"/>
                </a:solidFill>
                <a:latin typeface="Calibri" panose="020F0502020204030204" pitchFamily="34" charset="0"/>
                <a:cs typeface="Calibri" panose="020F0502020204030204" pitchFamily="34" charset="0"/>
              </a:rPr>
            </a:br>
            <a:r>
              <a:rPr lang="en-US" sz="2200" b="0" dirty="0">
                <a:solidFill>
                  <a:srgbClr val="002060"/>
                </a:solidFill>
                <a:latin typeface="Calibri" panose="020F0502020204030204" pitchFamily="34" charset="0"/>
                <a:cs typeface="Calibri" panose="020F0502020204030204" pitchFamily="34" charset="0"/>
              </a:rPr>
              <a:t>Structured data such as EXCEL files, ACCESS databases, SQL databases, and every type of databases that constructed from rows and columns.</a:t>
            </a:r>
            <a:br>
              <a:rPr lang="en-US" sz="2200" b="0" dirty="0">
                <a:solidFill>
                  <a:srgbClr val="002060"/>
                </a:solidFill>
                <a:latin typeface="Calibri" panose="020F0502020204030204" pitchFamily="34" charset="0"/>
                <a:cs typeface="Calibri" panose="020F0502020204030204" pitchFamily="34" charset="0"/>
              </a:rPr>
            </a:br>
            <a:r>
              <a:rPr lang="en-US" sz="2200" b="0" dirty="0">
                <a:solidFill>
                  <a:srgbClr val="002060"/>
                </a:solidFill>
                <a:latin typeface="Calibri" panose="020F0502020204030204" pitchFamily="34" charset="0"/>
                <a:cs typeface="Calibri" panose="020F0502020204030204" pitchFamily="34" charset="0"/>
              </a:rPr>
              <a:t>Semi-structured data such as Emails where the sender, carbon copy recipient, blinded carbon copy recipient, and subject fields are structured data where the email content is not structured data.</a:t>
            </a:r>
            <a:br>
              <a:rPr lang="en-US" sz="2200" b="0" dirty="0">
                <a:solidFill>
                  <a:srgbClr val="002060"/>
                </a:solidFill>
                <a:latin typeface="Calibri" panose="020F0502020204030204" pitchFamily="34" charset="0"/>
                <a:cs typeface="Calibri" panose="020F0502020204030204" pitchFamily="34" charset="0"/>
              </a:rPr>
            </a:br>
            <a:r>
              <a:rPr lang="en-US" sz="2200" b="0" dirty="0">
                <a:solidFill>
                  <a:srgbClr val="002060"/>
                </a:solidFill>
                <a:latin typeface="Calibri" panose="020F0502020204030204" pitchFamily="34" charset="0"/>
                <a:cs typeface="Calibri" panose="020F0502020204030204" pitchFamily="34" charset="0"/>
              </a:rPr>
              <a:t>Unstructured data such as videos, images, text files, audio, etc.</a:t>
            </a:r>
          </a:p>
        </p:txBody>
      </p:sp>
      <p:pic>
        <p:nvPicPr>
          <p:cNvPr id="1028" name="Picture 4" descr="‪Different data types: structured, semi‐structured, and unstructured.... |  Download Scientific Diagram‬‏">
            <a:extLst>
              <a:ext uri="{FF2B5EF4-FFF2-40B4-BE49-F238E27FC236}">
                <a16:creationId xmlns:a16="http://schemas.microsoft.com/office/drawing/2014/main" id="{A109A7A5-E464-518B-7742-79A320658F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2145" y="2130251"/>
            <a:ext cx="4665681" cy="300445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2">
            <a:extLst>
              <a:ext uri="{FF2B5EF4-FFF2-40B4-BE49-F238E27FC236}">
                <a16:creationId xmlns:a16="http://schemas.microsoft.com/office/drawing/2014/main" id="{6BAC3024-E2C6-30C9-89D2-5BC52674831E}"/>
              </a:ext>
            </a:extLst>
          </p:cNvPr>
          <p:cNvSpPr txBox="1">
            <a:spLocks/>
          </p:cNvSpPr>
          <p:nvPr/>
        </p:nvSpPr>
        <p:spPr>
          <a:xfrm>
            <a:off x="531379" y="1130368"/>
            <a:ext cx="6954982" cy="783270"/>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Data Types</a:t>
            </a:r>
          </a:p>
        </p:txBody>
      </p:sp>
    </p:spTree>
    <p:extLst>
      <p:ext uri="{BB962C8B-B14F-4D97-AF65-F5344CB8AC3E}">
        <p14:creationId xmlns:p14="http://schemas.microsoft.com/office/powerpoint/2010/main" val="763700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5692FA3D-5EB2-3202-E3BE-412614FA3CCC}"/>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99867A76-4921-8E8F-B911-39EFE826EA02}"/>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1DE5224C-F22F-8F15-60FB-80F6847E1823}"/>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a:t>
            </a:fld>
            <a:endParaRPr lang="en-US"/>
          </a:p>
        </p:txBody>
      </p:sp>
      <p:sp>
        <p:nvSpPr>
          <p:cNvPr id="3" name="Title 2">
            <a:extLst>
              <a:ext uri="{FF2B5EF4-FFF2-40B4-BE49-F238E27FC236}">
                <a16:creationId xmlns:a16="http://schemas.microsoft.com/office/drawing/2014/main" id="{E6B18198-1125-22B9-BD1C-BBAEE8096DB6}"/>
              </a:ext>
            </a:extLst>
          </p:cNvPr>
          <p:cNvSpPr>
            <a:spLocks noGrp="1"/>
          </p:cNvSpPr>
          <p:nvPr>
            <p:ph type="title"/>
          </p:nvPr>
        </p:nvSpPr>
        <p:spPr>
          <a:xfrm>
            <a:off x="134486" y="1045029"/>
            <a:ext cx="6954982" cy="783270"/>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Structured Data </a:t>
            </a:r>
          </a:p>
        </p:txBody>
      </p:sp>
      <p:pic>
        <p:nvPicPr>
          <p:cNvPr id="2" name="Picture 1">
            <a:extLst>
              <a:ext uri="{FF2B5EF4-FFF2-40B4-BE49-F238E27FC236}">
                <a16:creationId xmlns:a16="http://schemas.microsoft.com/office/drawing/2014/main" id="{1849501B-5B51-6E6D-F1EC-9156CA6A1E26}"/>
              </a:ext>
            </a:extLst>
          </p:cNvPr>
          <p:cNvPicPr>
            <a:picLocks noChangeAspect="1"/>
          </p:cNvPicPr>
          <p:nvPr/>
        </p:nvPicPr>
        <p:blipFill>
          <a:blip r:embed="rId3"/>
          <a:srcRect l="34763" b="8707"/>
          <a:stretch/>
        </p:blipFill>
        <p:spPr>
          <a:xfrm>
            <a:off x="3999614" y="535075"/>
            <a:ext cx="6954982" cy="5426110"/>
          </a:xfrm>
          <a:prstGeom prst="rect">
            <a:avLst/>
          </a:prstGeom>
        </p:spPr>
      </p:pic>
      <p:pic>
        <p:nvPicPr>
          <p:cNvPr id="5" name="Picture 4">
            <a:extLst>
              <a:ext uri="{FF2B5EF4-FFF2-40B4-BE49-F238E27FC236}">
                <a16:creationId xmlns:a16="http://schemas.microsoft.com/office/drawing/2014/main" id="{87D08191-A396-5FB7-ABC0-1A2F6025FDD8}"/>
              </a:ext>
            </a:extLst>
          </p:cNvPr>
          <p:cNvPicPr>
            <a:picLocks noChangeAspect="1"/>
          </p:cNvPicPr>
          <p:nvPr/>
        </p:nvPicPr>
        <p:blipFill>
          <a:blip r:embed="rId4"/>
          <a:stretch>
            <a:fillRect/>
          </a:stretch>
        </p:blipFill>
        <p:spPr>
          <a:xfrm>
            <a:off x="919016" y="2157383"/>
            <a:ext cx="2557746" cy="2557746"/>
          </a:xfrm>
          <a:prstGeom prst="rect">
            <a:avLst/>
          </a:prstGeom>
        </p:spPr>
      </p:pic>
    </p:spTree>
    <p:extLst>
      <p:ext uri="{BB962C8B-B14F-4D97-AF65-F5344CB8AC3E}">
        <p14:creationId xmlns:p14="http://schemas.microsoft.com/office/powerpoint/2010/main" val="3037425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B9C9FE6-42C5-9972-82BC-EFB7E08BE414}"/>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72F2C243-389D-9D1C-D1FD-3AAD8FB70EFC}"/>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2F27280B-226D-887D-E496-D4903CB4DA4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a:t>
            </a:fld>
            <a:endParaRPr lang="en-US"/>
          </a:p>
        </p:txBody>
      </p:sp>
      <p:sp>
        <p:nvSpPr>
          <p:cNvPr id="3" name="Title 2">
            <a:extLst>
              <a:ext uri="{FF2B5EF4-FFF2-40B4-BE49-F238E27FC236}">
                <a16:creationId xmlns:a16="http://schemas.microsoft.com/office/drawing/2014/main" id="{092FBA13-6EBB-D1F4-D0CF-EFCD0287D6C5}"/>
              </a:ext>
            </a:extLst>
          </p:cNvPr>
          <p:cNvSpPr>
            <a:spLocks noGrp="1"/>
          </p:cNvSpPr>
          <p:nvPr>
            <p:ph type="title"/>
          </p:nvPr>
        </p:nvSpPr>
        <p:spPr>
          <a:xfrm>
            <a:off x="171430" y="614626"/>
            <a:ext cx="3486169"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Semi-Structured Data </a:t>
            </a:r>
          </a:p>
        </p:txBody>
      </p:sp>
      <p:pic>
        <p:nvPicPr>
          <p:cNvPr id="4" name="Picture 3" descr="Graphical user interface, application&#10;&#10;Description automatically generated">
            <a:extLst>
              <a:ext uri="{FF2B5EF4-FFF2-40B4-BE49-F238E27FC236}">
                <a16:creationId xmlns:a16="http://schemas.microsoft.com/office/drawing/2014/main" id="{F1C66FCF-FB42-1F06-AC5E-20CC726379D3}"/>
              </a:ext>
            </a:extLst>
          </p:cNvPr>
          <p:cNvPicPr>
            <a:picLocks noChangeAspect="1"/>
          </p:cNvPicPr>
          <p:nvPr/>
        </p:nvPicPr>
        <p:blipFill>
          <a:blip r:embed="rId3"/>
          <a:srcRect l="35360" t="2558" b="65994"/>
          <a:stretch/>
        </p:blipFill>
        <p:spPr>
          <a:xfrm>
            <a:off x="4074942" y="2614846"/>
            <a:ext cx="6769887" cy="1869141"/>
          </a:xfrm>
          <a:prstGeom prst="rect">
            <a:avLst/>
          </a:prstGeom>
        </p:spPr>
      </p:pic>
      <p:pic>
        <p:nvPicPr>
          <p:cNvPr id="7" name="Picture 6">
            <a:extLst>
              <a:ext uri="{FF2B5EF4-FFF2-40B4-BE49-F238E27FC236}">
                <a16:creationId xmlns:a16="http://schemas.microsoft.com/office/drawing/2014/main" id="{3AA87834-00CE-9F2B-653E-80837AF848E7}"/>
              </a:ext>
            </a:extLst>
          </p:cNvPr>
          <p:cNvPicPr>
            <a:picLocks noChangeAspect="1"/>
          </p:cNvPicPr>
          <p:nvPr/>
        </p:nvPicPr>
        <p:blipFill>
          <a:blip r:embed="rId4"/>
          <a:stretch>
            <a:fillRect/>
          </a:stretch>
        </p:blipFill>
        <p:spPr>
          <a:xfrm>
            <a:off x="658412" y="2135235"/>
            <a:ext cx="2828365" cy="2828365"/>
          </a:xfrm>
          <a:prstGeom prst="rect">
            <a:avLst/>
          </a:prstGeom>
        </p:spPr>
      </p:pic>
    </p:spTree>
    <p:extLst>
      <p:ext uri="{BB962C8B-B14F-4D97-AF65-F5344CB8AC3E}">
        <p14:creationId xmlns:p14="http://schemas.microsoft.com/office/powerpoint/2010/main" val="665703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561F33F4-FE33-F9CD-5ACB-0D3FE2AC2A17}"/>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E087D2D9-0939-B685-F9D1-1AEF540E8490}"/>
              </a:ext>
            </a:extLst>
          </p:cNvPr>
          <p:cNvSpPr txBox="1">
            <a:spLocks noGrp="1"/>
          </p:cNvSpPr>
          <p:nvPr>
            <p:ph type="body" idx="3"/>
          </p:nvPr>
        </p:nvSpPr>
        <p:spPr>
          <a:xfrm>
            <a:off x="596033" y="2591186"/>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67940CCA-9865-ED2F-5CA0-29D19A989D74}"/>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itle 2">
            <a:extLst>
              <a:ext uri="{FF2B5EF4-FFF2-40B4-BE49-F238E27FC236}">
                <a16:creationId xmlns:a16="http://schemas.microsoft.com/office/drawing/2014/main" id="{90E76F1C-94D2-4419-225E-C72D772AAAE2}"/>
              </a:ext>
            </a:extLst>
          </p:cNvPr>
          <p:cNvSpPr>
            <a:spLocks noGrp="1"/>
          </p:cNvSpPr>
          <p:nvPr>
            <p:ph type="title"/>
          </p:nvPr>
        </p:nvSpPr>
        <p:spPr>
          <a:xfrm>
            <a:off x="171430" y="614626"/>
            <a:ext cx="3486169"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Semi-Structured Data </a:t>
            </a:r>
          </a:p>
        </p:txBody>
      </p:sp>
      <p:pic>
        <p:nvPicPr>
          <p:cNvPr id="2" name="Picture 1" descr="Diagram&#10;&#10;Description automatically generated with low confidence">
            <a:extLst>
              <a:ext uri="{FF2B5EF4-FFF2-40B4-BE49-F238E27FC236}">
                <a16:creationId xmlns:a16="http://schemas.microsoft.com/office/drawing/2014/main" id="{C84090F2-B4E5-F03B-6DB9-A847AB7406BC}"/>
              </a:ext>
            </a:extLst>
          </p:cNvPr>
          <p:cNvPicPr>
            <a:picLocks noChangeAspect="1"/>
          </p:cNvPicPr>
          <p:nvPr/>
        </p:nvPicPr>
        <p:blipFill>
          <a:blip r:embed="rId3"/>
          <a:stretch>
            <a:fillRect/>
          </a:stretch>
        </p:blipFill>
        <p:spPr>
          <a:xfrm>
            <a:off x="1412097" y="2113501"/>
            <a:ext cx="8204176" cy="4129873"/>
          </a:xfrm>
          <a:prstGeom prst="rect">
            <a:avLst/>
          </a:prstGeom>
        </p:spPr>
      </p:pic>
    </p:spTree>
    <p:extLst>
      <p:ext uri="{BB962C8B-B14F-4D97-AF65-F5344CB8AC3E}">
        <p14:creationId xmlns:p14="http://schemas.microsoft.com/office/powerpoint/2010/main" val="59155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1F9702F1-0524-8F1E-D09B-17C55CC979AC}"/>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B0DC42EF-2941-3DC9-38BF-EC7DD6F91BF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EA4C32E7-D757-B0C5-CC84-D8CF80F84C6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3" name="Title 2">
            <a:extLst>
              <a:ext uri="{FF2B5EF4-FFF2-40B4-BE49-F238E27FC236}">
                <a16:creationId xmlns:a16="http://schemas.microsoft.com/office/drawing/2014/main" id="{743B1C12-9DF6-2684-C824-F6E705EBE8B5}"/>
              </a:ext>
            </a:extLst>
          </p:cNvPr>
          <p:cNvSpPr>
            <a:spLocks noGrp="1"/>
          </p:cNvSpPr>
          <p:nvPr>
            <p:ph type="title"/>
          </p:nvPr>
        </p:nvSpPr>
        <p:spPr>
          <a:xfrm>
            <a:off x="171430" y="614626"/>
            <a:ext cx="3486169"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Semi-Structured Data </a:t>
            </a:r>
          </a:p>
        </p:txBody>
      </p:sp>
      <p:pic>
        <p:nvPicPr>
          <p:cNvPr id="7" name="Picture 6">
            <a:extLst>
              <a:ext uri="{FF2B5EF4-FFF2-40B4-BE49-F238E27FC236}">
                <a16:creationId xmlns:a16="http://schemas.microsoft.com/office/drawing/2014/main" id="{5E75B579-386E-20DC-B5C9-82AFFF312624}"/>
              </a:ext>
            </a:extLst>
          </p:cNvPr>
          <p:cNvPicPr>
            <a:picLocks noChangeAspect="1"/>
          </p:cNvPicPr>
          <p:nvPr/>
        </p:nvPicPr>
        <p:blipFill>
          <a:blip r:embed="rId3"/>
          <a:stretch>
            <a:fillRect/>
          </a:stretch>
        </p:blipFill>
        <p:spPr>
          <a:xfrm>
            <a:off x="658412" y="2135235"/>
            <a:ext cx="2828365" cy="2828365"/>
          </a:xfrm>
          <a:prstGeom prst="rect">
            <a:avLst/>
          </a:prstGeom>
        </p:spPr>
      </p:pic>
      <p:pic>
        <p:nvPicPr>
          <p:cNvPr id="2" name="Picture 1">
            <a:extLst>
              <a:ext uri="{FF2B5EF4-FFF2-40B4-BE49-F238E27FC236}">
                <a16:creationId xmlns:a16="http://schemas.microsoft.com/office/drawing/2014/main" id="{AC9FFE0F-CCFA-D3F6-2E98-71E620EDA006}"/>
              </a:ext>
            </a:extLst>
          </p:cNvPr>
          <p:cNvPicPr>
            <a:picLocks noChangeAspect="1"/>
          </p:cNvPicPr>
          <p:nvPr/>
        </p:nvPicPr>
        <p:blipFill rotWithShape="1">
          <a:blip r:embed="rId4"/>
          <a:srcRect l="35828" t="4634" b="8586"/>
          <a:stretch/>
        </p:blipFill>
        <p:spPr>
          <a:xfrm>
            <a:off x="3894498" y="405858"/>
            <a:ext cx="7082556" cy="5363521"/>
          </a:xfrm>
          <a:prstGeom prst="rect">
            <a:avLst/>
          </a:prstGeom>
        </p:spPr>
      </p:pic>
    </p:spTree>
    <p:extLst>
      <p:ext uri="{BB962C8B-B14F-4D97-AF65-F5344CB8AC3E}">
        <p14:creationId xmlns:p14="http://schemas.microsoft.com/office/powerpoint/2010/main" val="2194227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C4011E1-D924-52C4-7B8C-90463E50AA76}"/>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462BF7AC-D5BD-4CFC-A387-7303EFD36A09}"/>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B8D9A054-40D7-C2B0-D5FE-684403A43FF6}"/>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7</a:t>
            </a:fld>
            <a:endParaRPr lang="en-US"/>
          </a:p>
        </p:txBody>
      </p:sp>
      <p:sp>
        <p:nvSpPr>
          <p:cNvPr id="3" name="Title 2">
            <a:extLst>
              <a:ext uri="{FF2B5EF4-FFF2-40B4-BE49-F238E27FC236}">
                <a16:creationId xmlns:a16="http://schemas.microsoft.com/office/drawing/2014/main" id="{BF142AFF-BA06-5114-80F5-91368D04B87F}"/>
              </a:ext>
            </a:extLst>
          </p:cNvPr>
          <p:cNvSpPr>
            <a:spLocks noGrp="1"/>
          </p:cNvSpPr>
          <p:nvPr>
            <p:ph type="title"/>
          </p:nvPr>
        </p:nvSpPr>
        <p:spPr>
          <a:xfrm>
            <a:off x="171430" y="614626"/>
            <a:ext cx="4483697"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Unstructured Data </a:t>
            </a:r>
          </a:p>
        </p:txBody>
      </p:sp>
      <p:pic>
        <p:nvPicPr>
          <p:cNvPr id="5" name="Picture 4">
            <a:extLst>
              <a:ext uri="{FF2B5EF4-FFF2-40B4-BE49-F238E27FC236}">
                <a16:creationId xmlns:a16="http://schemas.microsoft.com/office/drawing/2014/main" id="{62927EEA-F73B-3EBA-8A6D-A460C3D7F3DF}"/>
              </a:ext>
            </a:extLst>
          </p:cNvPr>
          <p:cNvPicPr>
            <a:picLocks noChangeAspect="1"/>
          </p:cNvPicPr>
          <p:nvPr/>
        </p:nvPicPr>
        <p:blipFill>
          <a:blip r:embed="rId3"/>
          <a:stretch>
            <a:fillRect/>
          </a:stretch>
        </p:blipFill>
        <p:spPr>
          <a:xfrm>
            <a:off x="679161" y="2234868"/>
            <a:ext cx="2582558" cy="2582558"/>
          </a:xfrm>
          <a:prstGeom prst="rect">
            <a:avLst/>
          </a:prstGeom>
        </p:spPr>
      </p:pic>
      <p:pic>
        <p:nvPicPr>
          <p:cNvPr id="6" name="Picture 5" descr="Graphical user interface, application&#10;&#10;Description automatically generated with medium confidence">
            <a:extLst>
              <a:ext uri="{FF2B5EF4-FFF2-40B4-BE49-F238E27FC236}">
                <a16:creationId xmlns:a16="http://schemas.microsoft.com/office/drawing/2014/main" id="{B0E61BAF-7385-22B5-372F-E54B1FEBE0A5}"/>
              </a:ext>
            </a:extLst>
          </p:cNvPr>
          <p:cNvPicPr>
            <a:picLocks noChangeAspect="1"/>
          </p:cNvPicPr>
          <p:nvPr/>
        </p:nvPicPr>
        <p:blipFill rotWithShape="1">
          <a:blip r:embed="rId4"/>
          <a:srcRect l="35735" t="1132" r="6155" b="21360"/>
          <a:stretch/>
        </p:blipFill>
        <p:spPr>
          <a:xfrm>
            <a:off x="4330110" y="926037"/>
            <a:ext cx="6413529" cy="4790477"/>
          </a:xfrm>
          <a:prstGeom prst="rect">
            <a:avLst/>
          </a:prstGeom>
        </p:spPr>
      </p:pic>
    </p:spTree>
    <p:extLst>
      <p:ext uri="{BB962C8B-B14F-4D97-AF65-F5344CB8AC3E}">
        <p14:creationId xmlns:p14="http://schemas.microsoft.com/office/powerpoint/2010/main" val="4104414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F74AF47E-E0F2-34D4-AC82-B090B042818D}"/>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BDAE3371-B996-9E31-D3E7-F2B064965010}"/>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E6A32018-5F9B-496E-44C7-F66A01CE4384}"/>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8</a:t>
            </a:fld>
            <a:endParaRPr lang="en-US"/>
          </a:p>
        </p:txBody>
      </p:sp>
      <p:sp>
        <p:nvSpPr>
          <p:cNvPr id="3" name="Title 2">
            <a:extLst>
              <a:ext uri="{FF2B5EF4-FFF2-40B4-BE49-F238E27FC236}">
                <a16:creationId xmlns:a16="http://schemas.microsoft.com/office/drawing/2014/main" id="{975754DB-2C2A-6FA3-CEF9-E0402DD33B0D}"/>
              </a:ext>
            </a:extLst>
          </p:cNvPr>
          <p:cNvSpPr>
            <a:spLocks noGrp="1"/>
          </p:cNvSpPr>
          <p:nvPr>
            <p:ph type="title"/>
          </p:nvPr>
        </p:nvSpPr>
        <p:spPr>
          <a:xfrm>
            <a:off x="171430" y="614626"/>
            <a:ext cx="4483697"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Unstructured Data </a:t>
            </a:r>
          </a:p>
        </p:txBody>
      </p:sp>
      <p:pic>
        <p:nvPicPr>
          <p:cNvPr id="5" name="Picture 4">
            <a:extLst>
              <a:ext uri="{FF2B5EF4-FFF2-40B4-BE49-F238E27FC236}">
                <a16:creationId xmlns:a16="http://schemas.microsoft.com/office/drawing/2014/main" id="{92FDB252-0AAB-8786-4B98-33A7962B8BEC}"/>
              </a:ext>
            </a:extLst>
          </p:cNvPr>
          <p:cNvPicPr>
            <a:picLocks noChangeAspect="1"/>
          </p:cNvPicPr>
          <p:nvPr/>
        </p:nvPicPr>
        <p:blipFill>
          <a:blip r:embed="rId3"/>
          <a:stretch>
            <a:fillRect/>
          </a:stretch>
        </p:blipFill>
        <p:spPr>
          <a:xfrm>
            <a:off x="679161" y="2234868"/>
            <a:ext cx="2582558" cy="2582558"/>
          </a:xfrm>
          <a:prstGeom prst="rect">
            <a:avLst/>
          </a:prstGeom>
        </p:spPr>
      </p:pic>
      <p:pic>
        <p:nvPicPr>
          <p:cNvPr id="2" name="Picture 1" descr="Diagram&#10;&#10;Description automatically generated">
            <a:extLst>
              <a:ext uri="{FF2B5EF4-FFF2-40B4-BE49-F238E27FC236}">
                <a16:creationId xmlns:a16="http://schemas.microsoft.com/office/drawing/2014/main" id="{5EB5ADE5-A019-93E2-0747-8C538CFD66F3}"/>
              </a:ext>
            </a:extLst>
          </p:cNvPr>
          <p:cNvPicPr>
            <a:picLocks noChangeAspect="1"/>
          </p:cNvPicPr>
          <p:nvPr/>
        </p:nvPicPr>
        <p:blipFill rotWithShape="1">
          <a:blip r:embed="rId4"/>
          <a:srcRect l="35927" t="12213" r="6011" b="9025"/>
          <a:stretch/>
        </p:blipFill>
        <p:spPr>
          <a:xfrm>
            <a:off x="4549934" y="1098185"/>
            <a:ext cx="6363855" cy="4855923"/>
          </a:xfrm>
          <a:prstGeom prst="rect">
            <a:avLst/>
          </a:prstGeom>
        </p:spPr>
      </p:pic>
    </p:spTree>
    <p:extLst>
      <p:ext uri="{BB962C8B-B14F-4D97-AF65-F5344CB8AC3E}">
        <p14:creationId xmlns:p14="http://schemas.microsoft.com/office/powerpoint/2010/main" val="1267455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34F1E2F7-E3A9-BA69-260A-826D3BB49866}"/>
              </a:ext>
            </a:extLst>
          </p:cNvPr>
          <p:cNvPicPr>
            <a:picLocks noChangeAspect="1"/>
          </p:cNvPicPr>
          <p:nvPr/>
        </p:nvPicPr>
        <p:blipFill>
          <a:blip r:embed="rId2"/>
          <a:stretch>
            <a:fillRect/>
          </a:stretch>
        </p:blipFill>
        <p:spPr>
          <a:xfrm>
            <a:off x="1355310" y="1638743"/>
            <a:ext cx="9240039" cy="3580514"/>
          </a:xfrm>
          <a:prstGeom prst="rect">
            <a:avLst/>
          </a:prstGeom>
        </p:spPr>
      </p:pic>
      <p:sp>
        <p:nvSpPr>
          <p:cNvPr id="2" name="Google Shape;239;p3">
            <a:extLst>
              <a:ext uri="{FF2B5EF4-FFF2-40B4-BE49-F238E27FC236}">
                <a16:creationId xmlns:a16="http://schemas.microsoft.com/office/drawing/2014/main" id="{CD60F006-4FB9-DCEE-29B3-233A2FA57CA2}"/>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9</a:t>
            </a:fld>
            <a:endParaRPr lang="en-US" dirty="0"/>
          </a:p>
        </p:txBody>
      </p:sp>
    </p:spTree>
    <p:extLst>
      <p:ext uri="{BB962C8B-B14F-4D97-AF65-F5344CB8AC3E}">
        <p14:creationId xmlns:p14="http://schemas.microsoft.com/office/powerpoint/2010/main" val="2994828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842358D-1723-6D67-B285-D7FB6EB89F41}"/>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02F63FAA-5656-13C3-50A8-0C7FF4FBFC43}"/>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540377C0-F7BF-5012-AD0D-A32BD43AB36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10</a:t>
            </a:fld>
            <a:endParaRPr lang="en-US"/>
          </a:p>
        </p:txBody>
      </p:sp>
      <p:sp>
        <p:nvSpPr>
          <p:cNvPr id="3" name="Title 2">
            <a:extLst>
              <a:ext uri="{FF2B5EF4-FFF2-40B4-BE49-F238E27FC236}">
                <a16:creationId xmlns:a16="http://schemas.microsoft.com/office/drawing/2014/main" id="{FD2D1A70-8A12-E07D-E3F6-E07D5C870B96}"/>
              </a:ext>
            </a:extLst>
          </p:cNvPr>
          <p:cNvSpPr>
            <a:spLocks noGrp="1"/>
          </p:cNvSpPr>
          <p:nvPr>
            <p:ph type="title"/>
          </p:nvPr>
        </p:nvSpPr>
        <p:spPr>
          <a:xfrm>
            <a:off x="1141248" y="641339"/>
            <a:ext cx="3486169"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Data </a:t>
            </a:r>
          </a:p>
        </p:txBody>
      </p:sp>
      <p:sp>
        <p:nvSpPr>
          <p:cNvPr id="4" name="Title 2">
            <a:extLst>
              <a:ext uri="{FF2B5EF4-FFF2-40B4-BE49-F238E27FC236}">
                <a16:creationId xmlns:a16="http://schemas.microsoft.com/office/drawing/2014/main" id="{81D4B775-4B00-DE23-219D-2FC86B1D1917}"/>
              </a:ext>
            </a:extLst>
          </p:cNvPr>
          <p:cNvSpPr txBox="1">
            <a:spLocks/>
          </p:cNvSpPr>
          <p:nvPr/>
        </p:nvSpPr>
        <p:spPr>
          <a:xfrm>
            <a:off x="324407" y="1588149"/>
            <a:ext cx="5285818" cy="1279775"/>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b="0" dirty="0">
                <a:solidFill>
                  <a:srgbClr val="002060"/>
                </a:solidFill>
                <a:latin typeface="Calibri" panose="020F0502020204030204" pitchFamily="34" charset="0"/>
                <a:cs typeface="Calibri" panose="020F0502020204030204" pitchFamily="34" charset="0"/>
              </a:rPr>
              <a:t>Data can come in a variety of file formats, such as :  </a:t>
            </a:r>
          </a:p>
        </p:txBody>
      </p:sp>
      <p:pic>
        <p:nvPicPr>
          <p:cNvPr id="5" name="Picture 4" descr="Diagram&#10;&#10;Description automatically generated with medium confidence">
            <a:extLst>
              <a:ext uri="{FF2B5EF4-FFF2-40B4-BE49-F238E27FC236}">
                <a16:creationId xmlns:a16="http://schemas.microsoft.com/office/drawing/2014/main" id="{55EAFE22-7FB6-B20D-98F0-7050E848D81F}"/>
              </a:ext>
            </a:extLst>
          </p:cNvPr>
          <p:cNvPicPr>
            <a:picLocks noChangeAspect="1"/>
          </p:cNvPicPr>
          <p:nvPr/>
        </p:nvPicPr>
        <p:blipFill>
          <a:blip r:embed="rId3"/>
          <a:srcRect t="34125" r="7327" b="348"/>
          <a:stretch/>
        </p:blipFill>
        <p:spPr>
          <a:xfrm>
            <a:off x="1566353" y="2611102"/>
            <a:ext cx="8501687" cy="3381375"/>
          </a:xfrm>
          <a:prstGeom prst="rect">
            <a:avLst/>
          </a:prstGeom>
        </p:spPr>
      </p:pic>
    </p:spTree>
    <p:extLst>
      <p:ext uri="{BB962C8B-B14F-4D97-AF65-F5344CB8AC3E}">
        <p14:creationId xmlns:p14="http://schemas.microsoft.com/office/powerpoint/2010/main" val="182679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5E95F2E8-CC08-384A-120F-CB83C31C52CC}"/>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D932D298-63A1-8FA5-03D4-89DC133EAA3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0824D25F-E899-A735-54D4-0223BA1A3C9E}"/>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11</a:t>
            </a:fld>
            <a:endParaRPr lang="en-US"/>
          </a:p>
        </p:txBody>
      </p:sp>
      <p:sp>
        <p:nvSpPr>
          <p:cNvPr id="3" name="Title 2">
            <a:extLst>
              <a:ext uri="{FF2B5EF4-FFF2-40B4-BE49-F238E27FC236}">
                <a16:creationId xmlns:a16="http://schemas.microsoft.com/office/drawing/2014/main" id="{1B27B1E4-5FF7-3EFE-72EF-6718E131CE00}"/>
              </a:ext>
            </a:extLst>
          </p:cNvPr>
          <p:cNvSpPr>
            <a:spLocks noGrp="1"/>
          </p:cNvSpPr>
          <p:nvPr>
            <p:ph type="title"/>
          </p:nvPr>
        </p:nvSpPr>
        <p:spPr>
          <a:xfrm>
            <a:off x="133908" y="641339"/>
            <a:ext cx="4493510" cy="1279775"/>
          </a:xfrm>
        </p:spPr>
        <p:txBody>
          <a:bodyPr>
            <a:noAutofit/>
          </a:bodyPr>
          <a:lstStyle/>
          <a:p>
            <a:pPr>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Standard File Format</a:t>
            </a:r>
          </a:p>
        </p:txBody>
      </p:sp>
      <p:sp>
        <p:nvSpPr>
          <p:cNvPr id="4" name="Title 2">
            <a:extLst>
              <a:ext uri="{FF2B5EF4-FFF2-40B4-BE49-F238E27FC236}">
                <a16:creationId xmlns:a16="http://schemas.microsoft.com/office/drawing/2014/main" id="{961BF46A-2F99-4E99-CD2F-24E5EEC1B39D}"/>
              </a:ext>
            </a:extLst>
          </p:cNvPr>
          <p:cNvSpPr txBox="1">
            <a:spLocks/>
          </p:cNvSpPr>
          <p:nvPr/>
        </p:nvSpPr>
        <p:spPr>
          <a:xfrm>
            <a:off x="531379" y="2038897"/>
            <a:ext cx="6964796" cy="2266950"/>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endParaRPr lang="en-US" sz="2400" b="0" dirty="0">
              <a:solidFill>
                <a:srgbClr val="002060"/>
              </a:solidFill>
              <a:latin typeface="Calibri" panose="020F0502020204030204" pitchFamily="34" charset="0"/>
              <a:cs typeface="Calibri" panose="020F0502020204030204" pitchFamily="34" charset="0"/>
            </a:endParaRPr>
          </a:p>
          <a:p>
            <a:pPr marL="457200" indent="-457200">
              <a:buClr>
                <a:srgbClr val="00B0F0"/>
              </a:buClr>
              <a:buSzPct val="100000"/>
              <a:buFont typeface="+mj-lt"/>
              <a:buAutoNum type="arabicPeriod"/>
            </a:pPr>
            <a:r>
              <a:rPr lang="en-US" sz="2400" b="0" dirty="0">
                <a:solidFill>
                  <a:srgbClr val="002060"/>
                </a:solidFill>
                <a:latin typeface="Calibri" panose="020F0502020204030204" pitchFamily="34" charset="0"/>
                <a:cs typeface="Calibri" panose="020F0502020204030204" pitchFamily="34" charset="0"/>
              </a:rPr>
              <a:t>1. Delimited text file formats, or .CSV</a:t>
            </a:r>
          </a:p>
          <a:p>
            <a:pPr marL="457200" indent="-457200">
              <a:buClr>
                <a:srgbClr val="00B0F0"/>
              </a:buClr>
              <a:buSzPct val="100000"/>
              <a:buFont typeface="+mj-lt"/>
              <a:buAutoNum type="arabicPeriod"/>
            </a:pPr>
            <a:r>
              <a:rPr lang="en-US" sz="2400" b="0" dirty="0">
                <a:solidFill>
                  <a:srgbClr val="002060"/>
                </a:solidFill>
                <a:latin typeface="Calibri" panose="020F0502020204030204" pitchFamily="34" charset="0"/>
                <a:cs typeface="Calibri" panose="020F0502020204030204" pitchFamily="34" charset="0"/>
              </a:rPr>
              <a:t>2. Microsoft Excel Open .XML Spreadsheet, or .XLSX</a:t>
            </a:r>
          </a:p>
          <a:p>
            <a:pPr marL="457200" indent="-457200">
              <a:buClr>
                <a:srgbClr val="00B0F0"/>
              </a:buClr>
              <a:buSzPct val="100000"/>
              <a:buFont typeface="+mj-lt"/>
              <a:buAutoNum type="arabicPeriod"/>
            </a:pPr>
            <a:r>
              <a:rPr lang="en-US" sz="2400" b="0" dirty="0">
                <a:solidFill>
                  <a:srgbClr val="002060"/>
                </a:solidFill>
                <a:latin typeface="Calibri" panose="020F0502020204030204" pitchFamily="34" charset="0"/>
                <a:cs typeface="Calibri" panose="020F0502020204030204" pitchFamily="34" charset="0"/>
              </a:rPr>
              <a:t>3. Extensible Markup Language, or .XML</a:t>
            </a:r>
          </a:p>
          <a:p>
            <a:pPr marL="457200" indent="-457200">
              <a:buClr>
                <a:srgbClr val="00B0F0"/>
              </a:buClr>
              <a:buSzPct val="100000"/>
              <a:buFont typeface="+mj-lt"/>
              <a:buAutoNum type="arabicPeriod"/>
            </a:pPr>
            <a:r>
              <a:rPr lang="en-US" sz="2400" b="0" dirty="0">
                <a:solidFill>
                  <a:srgbClr val="002060"/>
                </a:solidFill>
                <a:latin typeface="Calibri" panose="020F0502020204030204" pitchFamily="34" charset="0"/>
                <a:cs typeface="Calibri" panose="020F0502020204030204" pitchFamily="34" charset="0"/>
              </a:rPr>
              <a:t>4. Portable Document Format, or .PDF</a:t>
            </a:r>
          </a:p>
          <a:p>
            <a:pPr marL="457200" indent="-457200">
              <a:buClr>
                <a:srgbClr val="00B0F0"/>
              </a:buClr>
              <a:buSzPct val="100000"/>
              <a:buFont typeface="+mj-lt"/>
              <a:buAutoNum type="arabicPeriod"/>
            </a:pPr>
            <a:r>
              <a:rPr lang="en-US" sz="2400" b="0" dirty="0">
                <a:solidFill>
                  <a:srgbClr val="002060"/>
                </a:solidFill>
                <a:latin typeface="Calibri" panose="020F0502020204030204" pitchFamily="34" charset="0"/>
                <a:cs typeface="Calibri" panose="020F0502020204030204" pitchFamily="34" charset="0"/>
              </a:rPr>
              <a:t>5. JavaScript Object Notation, or .JSON</a:t>
            </a:r>
          </a:p>
        </p:txBody>
      </p:sp>
    </p:spTree>
    <p:extLst>
      <p:ext uri="{BB962C8B-B14F-4D97-AF65-F5344CB8AC3E}">
        <p14:creationId xmlns:p14="http://schemas.microsoft.com/office/powerpoint/2010/main" val="898278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444466-C3C1-B779-8E26-1E3151EDAB98}"/>
              </a:ext>
            </a:extLst>
          </p:cNvPr>
          <p:cNvPicPr>
            <a:picLocks noChangeAspect="1"/>
          </p:cNvPicPr>
          <p:nvPr/>
        </p:nvPicPr>
        <p:blipFill>
          <a:blip r:embed="rId2"/>
          <a:stretch>
            <a:fillRect/>
          </a:stretch>
        </p:blipFill>
        <p:spPr>
          <a:xfrm>
            <a:off x="790575" y="990600"/>
            <a:ext cx="10610850" cy="4876800"/>
          </a:xfrm>
          <a:prstGeom prst="rect">
            <a:avLst/>
          </a:prstGeom>
        </p:spPr>
      </p:pic>
      <p:sp>
        <p:nvSpPr>
          <p:cNvPr id="2" name="Google Shape;239;p3">
            <a:extLst>
              <a:ext uri="{FF2B5EF4-FFF2-40B4-BE49-F238E27FC236}">
                <a16:creationId xmlns:a16="http://schemas.microsoft.com/office/drawing/2014/main" id="{8F0429D1-8E27-DFEC-A71A-EE01A7BA772A}"/>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12</a:t>
            </a:fld>
            <a:endParaRPr lang="en-US" dirty="0"/>
          </a:p>
        </p:txBody>
      </p:sp>
    </p:spTree>
    <p:extLst>
      <p:ext uri="{BB962C8B-B14F-4D97-AF65-F5344CB8AC3E}">
        <p14:creationId xmlns:p14="http://schemas.microsoft.com/office/powerpoint/2010/main" val="2863445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27B0180-BECE-A719-58C0-504EB4FF5991}"/>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2899C7F4-FFEA-9167-28A2-92257C1B26FF}"/>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03CFCEBE-5B36-6FD4-319A-3A64F5B8F3A1}"/>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descr="Table, Excel&#10;&#10;Description automatically generated">
            <a:extLst>
              <a:ext uri="{FF2B5EF4-FFF2-40B4-BE49-F238E27FC236}">
                <a16:creationId xmlns:a16="http://schemas.microsoft.com/office/drawing/2014/main" id="{92BA1BAF-7C9B-221B-E5EA-320F2A1C6D40}"/>
              </a:ext>
            </a:extLst>
          </p:cNvPr>
          <p:cNvPicPr>
            <a:picLocks noChangeAspect="1"/>
          </p:cNvPicPr>
          <p:nvPr/>
        </p:nvPicPr>
        <p:blipFill>
          <a:blip r:embed="rId3"/>
          <a:srcRect l="23098" t="8669" r="15586" b="1589"/>
          <a:stretch/>
        </p:blipFill>
        <p:spPr>
          <a:xfrm>
            <a:off x="1114425" y="610305"/>
            <a:ext cx="8629650" cy="4857750"/>
          </a:xfrm>
          <a:prstGeom prst="rect">
            <a:avLst/>
          </a:prstGeom>
        </p:spPr>
      </p:pic>
      <p:sp>
        <p:nvSpPr>
          <p:cNvPr id="7" name="Title 2">
            <a:extLst>
              <a:ext uri="{FF2B5EF4-FFF2-40B4-BE49-F238E27FC236}">
                <a16:creationId xmlns:a16="http://schemas.microsoft.com/office/drawing/2014/main" id="{8448AEB2-1D4D-21DA-A197-71B9717CD6AE}"/>
              </a:ext>
            </a:extLst>
          </p:cNvPr>
          <p:cNvSpPr txBox="1">
            <a:spLocks/>
          </p:cNvSpPr>
          <p:nvPr/>
        </p:nvSpPr>
        <p:spPr>
          <a:xfrm>
            <a:off x="45604" y="1115678"/>
            <a:ext cx="1421246" cy="362497"/>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b="0" dirty="0">
                <a:solidFill>
                  <a:srgbClr val="002060"/>
                </a:solidFill>
                <a:latin typeface="Calibri" panose="020F0502020204030204" pitchFamily="34" charset="0"/>
                <a:cs typeface="Calibri" panose="020F0502020204030204" pitchFamily="34" charset="0"/>
              </a:rPr>
              <a:t>Column </a:t>
            </a:r>
          </a:p>
        </p:txBody>
      </p:sp>
      <p:cxnSp>
        <p:nvCxnSpPr>
          <p:cNvPr id="9" name="Straight Arrow Connector 8">
            <a:extLst>
              <a:ext uri="{FF2B5EF4-FFF2-40B4-BE49-F238E27FC236}">
                <a16:creationId xmlns:a16="http://schemas.microsoft.com/office/drawing/2014/main" id="{7E017092-F318-F508-A8A4-7DC4D2D31411}"/>
              </a:ext>
            </a:extLst>
          </p:cNvPr>
          <p:cNvCxnSpPr>
            <a:cxnSpLocks/>
          </p:cNvCxnSpPr>
          <p:nvPr/>
        </p:nvCxnSpPr>
        <p:spPr>
          <a:xfrm>
            <a:off x="245629" y="1478175"/>
            <a:ext cx="1021196" cy="141075"/>
          </a:xfrm>
          <a:prstGeom prst="straightConnector1">
            <a:avLst/>
          </a:prstGeom>
          <a:ln>
            <a:solidFill>
              <a:srgbClr val="FF0000"/>
            </a:solidFill>
            <a:tailEnd type="triangle"/>
          </a:ln>
        </p:spPr>
        <p:style>
          <a:lnRef idx="3">
            <a:schemeClr val="accent3"/>
          </a:lnRef>
          <a:fillRef idx="0">
            <a:schemeClr val="accent3"/>
          </a:fillRef>
          <a:effectRef idx="2">
            <a:schemeClr val="accent3"/>
          </a:effectRef>
          <a:fontRef idx="minor">
            <a:schemeClr val="tx1"/>
          </a:fontRef>
        </p:style>
      </p:cxnSp>
      <p:sp>
        <p:nvSpPr>
          <p:cNvPr id="16" name="Title 2">
            <a:extLst>
              <a:ext uri="{FF2B5EF4-FFF2-40B4-BE49-F238E27FC236}">
                <a16:creationId xmlns:a16="http://schemas.microsoft.com/office/drawing/2014/main" id="{0D22A67C-AF17-787F-E961-EF0660CB90BC}"/>
              </a:ext>
            </a:extLst>
          </p:cNvPr>
          <p:cNvSpPr txBox="1">
            <a:spLocks/>
          </p:cNvSpPr>
          <p:nvPr/>
        </p:nvSpPr>
        <p:spPr>
          <a:xfrm>
            <a:off x="10525125" y="1115677"/>
            <a:ext cx="1421246" cy="362497"/>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b="0" dirty="0">
                <a:solidFill>
                  <a:schemeClr val="bg1"/>
                </a:solidFill>
                <a:latin typeface="Calibri" panose="020F0502020204030204" pitchFamily="34" charset="0"/>
                <a:cs typeface="Calibri" panose="020F0502020204030204" pitchFamily="34" charset="0"/>
              </a:rPr>
              <a:t>ROW</a:t>
            </a:r>
          </a:p>
        </p:txBody>
      </p:sp>
      <p:cxnSp>
        <p:nvCxnSpPr>
          <p:cNvPr id="18" name="Straight Arrow Connector 17">
            <a:extLst>
              <a:ext uri="{FF2B5EF4-FFF2-40B4-BE49-F238E27FC236}">
                <a16:creationId xmlns:a16="http://schemas.microsoft.com/office/drawing/2014/main" id="{D6ED1C8C-FDA4-90CE-AC5B-692B5F4F371E}"/>
              </a:ext>
            </a:extLst>
          </p:cNvPr>
          <p:cNvCxnSpPr>
            <a:cxnSpLocks/>
          </p:cNvCxnSpPr>
          <p:nvPr/>
        </p:nvCxnSpPr>
        <p:spPr>
          <a:xfrm flipH="1">
            <a:off x="9420225" y="1288924"/>
            <a:ext cx="1192646" cy="0"/>
          </a:xfrm>
          <a:prstGeom prst="straightConnector1">
            <a:avLst/>
          </a:prstGeom>
          <a:ln>
            <a:solidFill>
              <a:srgbClr val="FF000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604417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DF1B1188-B201-E605-34E3-BCECCFBE3484}"/>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F758C305-2FF7-75B3-4F16-A45D04F77E83}"/>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AC11E2F6-608F-B8C7-FC13-94BFFD2C30A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14</a:t>
            </a:fld>
            <a:endParaRPr lang="en-US"/>
          </a:p>
        </p:txBody>
      </p:sp>
      <p:sp>
        <p:nvSpPr>
          <p:cNvPr id="7" name="Title 2">
            <a:extLst>
              <a:ext uri="{FF2B5EF4-FFF2-40B4-BE49-F238E27FC236}">
                <a16:creationId xmlns:a16="http://schemas.microsoft.com/office/drawing/2014/main" id="{202DA09F-8F1A-E1EC-CE1D-F79C243A351B}"/>
              </a:ext>
            </a:extLst>
          </p:cNvPr>
          <p:cNvSpPr txBox="1">
            <a:spLocks/>
          </p:cNvSpPr>
          <p:nvPr/>
        </p:nvSpPr>
        <p:spPr>
          <a:xfrm>
            <a:off x="0" y="1296925"/>
            <a:ext cx="5089236" cy="608894"/>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dirty="0">
                <a:solidFill>
                  <a:srgbClr val="002060"/>
                </a:solidFill>
                <a:latin typeface="Calibri" panose="020F0502020204030204" pitchFamily="34" charset="0"/>
                <a:cs typeface="Calibri" panose="020F0502020204030204" pitchFamily="34" charset="0"/>
              </a:rPr>
              <a:t>Extensible Markup Language or .XML </a:t>
            </a:r>
          </a:p>
        </p:txBody>
      </p:sp>
      <p:pic>
        <p:nvPicPr>
          <p:cNvPr id="2" name="Picture 1" descr="Graphical user interface, application, Word&#10;&#10;Description automatically generated">
            <a:extLst>
              <a:ext uri="{FF2B5EF4-FFF2-40B4-BE49-F238E27FC236}">
                <a16:creationId xmlns:a16="http://schemas.microsoft.com/office/drawing/2014/main" id="{04B1EE05-39CC-6749-92AC-8D3057B8ABD5}"/>
              </a:ext>
            </a:extLst>
          </p:cNvPr>
          <p:cNvPicPr>
            <a:picLocks noChangeAspect="1"/>
          </p:cNvPicPr>
          <p:nvPr/>
        </p:nvPicPr>
        <p:blipFill>
          <a:blip r:embed="rId3"/>
          <a:srcRect l="875" t="50209" r="68211" b="14410"/>
          <a:stretch/>
        </p:blipFill>
        <p:spPr>
          <a:xfrm>
            <a:off x="6599677" y="1905819"/>
            <a:ext cx="5388462" cy="3030118"/>
          </a:xfrm>
          <a:prstGeom prst="rect">
            <a:avLst/>
          </a:prstGeom>
          <a:ln>
            <a:solidFill>
              <a:schemeClr val="tx1"/>
            </a:solidFill>
          </a:ln>
        </p:spPr>
      </p:pic>
      <p:sp>
        <p:nvSpPr>
          <p:cNvPr id="4" name="TextBox 3">
            <a:extLst>
              <a:ext uri="{FF2B5EF4-FFF2-40B4-BE49-F238E27FC236}">
                <a16:creationId xmlns:a16="http://schemas.microsoft.com/office/drawing/2014/main" id="{99EEF755-40EE-2D9A-9B4B-5ADADA53B0A1}"/>
              </a:ext>
            </a:extLst>
          </p:cNvPr>
          <p:cNvSpPr txBox="1"/>
          <p:nvPr/>
        </p:nvSpPr>
        <p:spPr>
          <a:xfrm>
            <a:off x="134215" y="2129595"/>
            <a:ext cx="6183744" cy="2862322"/>
          </a:xfrm>
          <a:prstGeom prst="rect">
            <a:avLst/>
          </a:prstGeom>
          <a:noFill/>
        </p:spPr>
        <p:txBody>
          <a:bodyPr wrap="square">
            <a:spAutoFit/>
          </a:bodyPr>
          <a:lstStyle/>
          <a:p>
            <a:pPr marL="342900" indent="-342900">
              <a:buFontTx/>
              <a:buChar char="-"/>
            </a:pPr>
            <a:r>
              <a:rPr lang="en-US" sz="2000" dirty="0">
                <a:solidFill>
                  <a:srgbClr val="002060"/>
                </a:solidFill>
                <a:latin typeface="Calibri" panose="020F0502020204030204" pitchFamily="34" charset="0"/>
                <a:cs typeface="Calibri" panose="020F0502020204030204" pitchFamily="34" charset="0"/>
              </a:rPr>
              <a:t>is a markup language with set rules for encoding data.</a:t>
            </a:r>
          </a:p>
          <a:p>
            <a:endParaRPr lang="en-US" sz="2000" dirty="0">
              <a:solidFill>
                <a:srgbClr val="002060"/>
              </a:solidFill>
              <a:latin typeface="Calibri" panose="020F0502020204030204" pitchFamily="34" charset="0"/>
              <a:cs typeface="Calibri" panose="020F0502020204030204" pitchFamily="34" charset="0"/>
            </a:endParaRP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Readable by both humans and machines</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Self-descriptive language</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Similar to .HTML in some respects</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Does not use predefined tags like .HTML does</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Platform independent</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Programming language independent</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Makes it simpler to share data between systems</a:t>
            </a:r>
          </a:p>
        </p:txBody>
      </p:sp>
    </p:spTree>
    <p:extLst>
      <p:ext uri="{BB962C8B-B14F-4D97-AF65-F5344CB8AC3E}">
        <p14:creationId xmlns:p14="http://schemas.microsoft.com/office/powerpoint/2010/main" val="94321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76E51698-6908-6B68-0744-B08C0F541817}"/>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3EC15E17-25C2-3F05-8598-1EF673E8512F}"/>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1AAEF8A6-B2C2-F250-CBE3-5E82176C8169}"/>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15</a:t>
            </a:fld>
            <a:endParaRPr lang="en-US"/>
          </a:p>
        </p:txBody>
      </p:sp>
      <p:sp>
        <p:nvSpPr>
          <p:cNvPr id="7" name="Title 2">
            <a:extLst>
              <a:ext uri="{FF2B5EF4-FFF2-40B4-BE49-F238E27FC236}">
                <a16:creationId xmlns:a16="http://schemas.microsoft.com/office/drawing/2014/main" id="{E470365A-0291-ED92-61A6-AF5139EBC857}"/>
              </a:ext>
            </a:extLst>
          </p:cNvPr>
          <p:cNvSpPr txBox="1">
            <a:spLocks/>
          </p:cNvSpPr>
          <p:nvPr/>
        </p:nvSpPr>
        <p:spPr>
          <a:xfrm>
            <a:off x="203861" y="1296925"/>
            <a:ext cx="5089236" cy="608894"/>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dirty="0">
                <a:solidFill>
                  <a:srgbClr val="002060"/>
                </a:solidFill>
                <a:latin typeface="Calibri" panose="020F0502020204030204" pitchFamily="34" charset="0"/>
                <a:cs typeface="Calibri" panose="020F0502020204030204" pitchFamily="34" charset="0"/>
              </a:rPr>
              <a:t>JavaScript Object Notation or JSON</a:t>
            </a:r>
          </a:p>
        </p:txBody>
      </p:sp>
      <p:sp>
        <p:nvSpPr>
          <p:cNvPr id="4" name="TextBox 3">
            <a:extLst>
              <a:ext uri="{FF2B5EF4-FFF2-40B4-BE49-F238E27FC236}">
                <a16:creationId xmlns:a16="http://schemas.microsoft.com/office/drawing/2014/main" id="{16C190E0-96D7-6BA3-65B1-8841B601AB92}"/>
              </a:ext>
            </a:extLst>
          </p:cNvPr>
          <p:cNvSpPr txBox="1"/>
          <p:nvPr/>
        </p:nvSpPr>
        <p:spPr>
          <a:xfrm>
            <a:off x="134215" y="2129595"/>
            <a:ext cx="6183744" cy="2862322"/>
          </a:xfrm>
          <a:prstGeom prst="rect">
            <a:avLst/>
          </a:prstGeom>
          <a:noFill/>
        </p:spPr>
        <p:txBody>
          <a:bodyPr wrap="square">
            <a:spAutoFit/>
          </a:bodyPr>
          <a:lstStyle/>
          <a:p>
            <a:pPr marL="342900" indent="-342900">
              <a:buFontTx/>
              <a:buChar char="-"/>
            </a:pPr>
            <a:r>
              <a:rPr lang="en-US" sz="2000" dirty="0">
                <a:solidFill>
                  <a:srgbClr val="002060"/>
                </a:solidFill>
                <a:latin typeface="Calibri" panose="020F0502020204030204" pitchFamily="34" charset="0"/>
                <a:cs typeface="Calibri" panose="020F0502020204030204" pitchFamily="34" charset="0"/>
              </a:rPr>
              <a:t>is a text-based open standard designed for transmitting structured data over the web.</a:t>
            </a:r>
          </a:p>
          <a:p>
            <a:endParaRPr lang="en-US" sz="2000" dirty="0">
              <a:solidFill>
                <a:srgbClr val="002060"/>
              </a:solidFill>
              <a:latin typeface="Calibri" panose="020F0502020204030204" pitchFamily="34" charset="0"/>
              <a:cs typeface="Calibri" panose="020F0502020204030204" pitchFamily="34" charset="0"/>
            </a:endParaRP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Language-independent data format</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Can be read in any programming language</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Easy to use</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Compatible with a wide range of browsers</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Considered as one of the best tools for sharing data</a:t>
            </a:r>
          </a:p>
          <a:p>
            <a:pPr marL="342900" indent="-342900">
              <a:buClr>
                <a:srgbClr val="00B0F0"/>
              </a:buClr>
              <a:buFont typeface="Arial" panose="020B0604020202020204" pitchFamily="34" charset="0"/>
              <a:buChar char="•"/>
            </a:pPr>
            <a:endParaRPr lang="en-US" sz="2000" dirty="0">
              <a:solidFill>
                <a:srgbClr val="002060"/>
              </a:solidFill>
              <a:latin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D01D9ED7-9E6A-C4F1-C518-C810CB2B1E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51" t="28506" r="67023" b="2884"/>
          <a:stretch/>
        </p:blipFill>
        <p:spPr bwMode="auto">
          <a:xfrm>
            <a:off x="7028874" y="858019"/>
            <a:ext cx="3980872" cy="5141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38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1C8E602-6FE0-CCF0-56D7-2D11D882C038}"/>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6577A909-7E3E-53A9-1D9E-8C0016F1CE5B}"/>
              </a:ext>
            </a:extLst>
          </p:cNvPr>
          <p:cNvSpPr txBox="1">
            <a:spLocks noGrp="1"/>
          </p:cNvSpPr>
          <p:nvPr>
            <p:ph type="body" idx="3"/>
          </p:nvPr>
        </p:nvSpPr>
        <p:spPr>
          <a:xfrm>
            <a:off x="531379" y="2678886"/>
            <a:ext cx="7342621" cy="37807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1808D217-CB74-1F40-12FE-AE72080E525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16</a:t>
            </a:fld>
            <a:endParaRPr lang="en-US"/>
          </a:p>
        </p:txBody>
      </p:sp>
      <p:sp>
        <p:nvSpPr>
          <p:cNvPr id="7" name="Title 2">
            <a:extLst>
              <a:ext uri="{FF2B5EF4-FFF2-40B4-BE49-F238E27FC236}">
                <a16:creationId xmlns:a16="http://schemas.microsoft.com/office/drawing/2014/main" id="{23EA9121-B158-D838-8A2D-E66C3CFE0E62}"/>
              </a:ext>
            </a:extLst>
          </p:cNvPr>
          <p:cNvSpPr txBox="1">
            <a:spLocks/>
          </p:cNvSpPr>
          <p:nvPr/>
        </p:nvSpPr>
        <p:spPr>
          <a:xfrm>
            <a:off x="531379" y="3786575"/>
            <a:ext cx="2216727" cy="275732"/>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dirty="0">
                <a:solidFill>
                  <a:srgbClr val="002060"/>
                </a:solidFill>
                <a:latin typeface="Calibri" panose="020F0502020204030204" pitchFamily="34" charset="0"/>
                <a:cs typeface="Calibri" panose="020F0502020204030204" pitchFamily="34" charset="0"/>
              </a:rPr>
              <a:t>Query Language</a:t>
            </a:r>
          </a:p>
        </p:txBody>
      </p:sp>
      <p:sp>
        <p:nvSpPr>
          <p:cNvPr id="4" name="TextBox 3">
            <a:extLst>
              <a:ext uri="{FF2B5EF4-FFF2-40B4-BE49-F238E27FC236}">
                <a16:creationId xmlns:a16="http://schemas.microsoft.com/office/drawing/2014/main" id="{25AEA209-ED31-BD53-4070-B31E5CED6FFD}"/>
              </a:ext>
            </a:extLst>
          </p:cNvPr>
          <p:cNvSpPr txBox="1"/>
          <p:nvPr/>
        </p:nvSpPr>
        <p:spPr>
          <a:xfrm>
            <a:off x="411305" y="4321607"/>
            <a:ext cx="7966076" cy="1938992"/>
          </a:xfrm>
          <a:prstGeom prst="rect">
            <a:avLst/>
          </a:prstGeom>
          <a:noFill/>
        </p:spPr>
        <p:txBody>
          <a:bodyPr wrap="square">
            <a:spAutoFit/>
          </a:bodyPr>
          <a:lstStyle/>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Query languages are designed for accessing and manipulating data in a database (SQL)</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Programming languages are designed for developing applications and controlling application behavior (Python, R, Java)</a:t>
            </a:r>
          </a:p>
          <a:p>
            <a:pPr marL="342900" indent="-342900">
              <a:buClr>
                <a:srgbClr val="00B0F0"/>
              </a:buClr>
              <a:buFont typeface="Arial" panose="020B0604020202020204" pitchFamily="34" charset="0"/>
              <a:buChar char="•"/>
            </a:pPr>
            <a:r>
              <a:rPr lang="en-US" sz="2000" dirty="0">
                <a:solidFill>
                  <a:srgbClr val="002060"/>
                </a:solidFill>
                <a:latin typeface="Calibri" panose="020F0502020204030204" pitchFamily="34" charset="0"/>
                <a:cs typeface="Calibri" panose="020F0502020204030204" pitchFamily="34" charset="0"/>
              </a:rPr>
              <a:t>Shell and Scripting languages are ideal for repetitive and time-consuming operational tasks (Unix/Linux Shell, PowerShell)</a:t>
            </a:r>
          </a:p>
        </p:txBody>
      </p:sp>
      <p:pic>
        <p:nvPicPr>
          <p:cNvPr id="3" name="Picture 2" descr="A blue circle with white text and white dots&#10;&#10;Description automatically generated">
            <a:extLst>
              <a:ext uri="{FF2B5EF4-FFF2-40B4-BE49-F238E27FC236}">
                <a16:creationId xmlns:a16="http://schemas.microsoft.com/office/drawing/2014/main" id="{EBF18373-B89C-98D0-86E8-FFE987316FB6}"/>
              </a:ext>
            </a:extLst>
          </p:cNvPr>
          <p:cNvPicPr>
            <a:picLocks noChangeAspect="1"/>
          </p:cNvPicPr>
          <p:nvPr/>
        </p:nvPicPr>
        <p:blipFill>
          <a:blip r:embed="rId3">
            <a:extLst>
              <a:ext uri="{28A0092B-C50C-407E-A947-70E740481C1C}">
                <a14:useLocalDpi xmlns:a14="http://schemas.microsoft.com/office/drawing/2010/main" val="0"/>
              </a:ext>
            </a:extLst>
          </a:blip>
          <a:srcRect b="24784"/>
          <a:stretch/>
        </p:blipFill>
        <p:spPr>
          <a:xfrm>
            <a:off x="0" y="412624"/>
            <a:ext cx="10134600" cy="3030536"/>
          </a:xfrm>
          <a:prstGeom prst="rect">
            <a:avLst/>
          </a:prstGeom>
        </p:spPr>
      </p:pic>
      <p:sp>
        <p:nvSpPr>
          <p:cNvPr id="5" name="Title 2">
            <a:extLst>
              <a:ext uri="{FF2B5EF4-FFF2-40B4-BE49-F238E27FC236}">
                <a16:creationId xmlns:a16="http://schemas.microsoft.com/office/drawing/2014/main" id="{65DB30E8-853E-B8E7-6281-650619E6F576}"/>
              </a:ext>
            </a:extLst>
          </p:cNvPr>
          <p:cNvSpPr txBox="1">
            <a:spLocks/>
          </p:cNvSpPr>
          <p:nvPr/>
        </p:nvSpPr>
        <p:spPr>
          <a:xfrm>
            <a:off x="3279485" y="3786575"/>
            <a:ext cx="3117272" cy="275732"/>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dirty="0">
                <a:solidFill>
                  <a:srgbClr val="002060"/>
                </a:solidFill>
                <a:latin typeface="Calibri" panose="020F0502020204030204" pitchFamily="34" charset="0"/>
                <a:cs typeface="Calibri" panose="020F0502020204030204" pitchFamily="34" charset="0"/>
              </a:rPr>
              <a:t>Programming Language</a:t>
            </a:r>
          </a:p>
        </p:txBody>
      </p:sp>
      <p:sp>
        <p:nvSpPr>
          <p:cNvPr id="6" name="Title 2">
            <a:extLst>
              <a:ext uri="{FF2B5EF4-FFF2-40B4-BE49-F238E27FC236}">
                <a16:creationId xmlns:a16="http://schemas.microsoft.com/office/drawing/2014/main" id="{D3E41571-E8DA-852E-02A0-25DC74256A7B}"/>
              </a:ext>
            </a:extLst>
          </p:cNvPr>
          <p:cNvSpPr txBox="1">
            <a:spLocks/>
          </p:cNvSpPr>
          <p:nvPr/>
        </p:nvSpPr>
        <p:spPr>
          <a:xfrm>
            <a:off x="7188778" y="3829358"/>
            <a:ext cx="3117272" cy="275732"/>
          </a:xfrm>
          <a:prstGeom prst="rect">
            <a:avLst/>
          </a:prstGeom>
          <a:noFill/>
          <a:ln>
            <a:noFill/>
          </a:ln>
        </p:spPr>
        <p:txBody>
          <a:bodyPr spcFirstLastPara="1" vert="horz" wrap="square" lIns="91425" tIns="45700" rIns="91425" bIns="0" rtlCol="0" anchor="b" anchorCtr="0">
            <a:noAutofit/>
          </a:bodyPr>
          <a:lstStyle>
            <a:lvl1pPr lvl="0" algn="l" defTabSz="914400" rtl="0" eaLnBrk="1" latinLnBrk="0" hangingPunct="1">
              <a:lnSpc>
                <a:spcPct val="90000"/>
              </a:lnSpc>
              <a:spcBef>
                <a:spcPts val="0"/>
              </a:spcBef>
              <a:spcAft>
                <a:spcPts val="0"/>
              </a:spcAft>
              <a:buClr>
                <a:schemeClr val="accent1"/>
              </a:buClr>
              <a:buSzPts val="4400"/>
              <a:buFont typeface="Calibri"/>
              <a:buNone/>
              <a:defRPr sz="4400" b="1" i="0" kern="1200" spc="-50" baseline="0">
                <a:solidFill>
                  <a:schemeClr val="accent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EAB200"/>
              </a:buClr>
              <a:buSzPct val="100000"/>
            </a:pPr>
            <a:r>
              <a:rPr lang="en-US" sz="2400" dirty="0">
                <a:solidFill>
                  <a:srgbClr val="002060"/>
                </a:solidFill>
                <a:latin typeface="Calibri" panose="020F0502020204030204" pitchFamily="34" charset="0"/>
                <a:cs typeface="Calibri" panose="020F0502020204030204" pitchFamily="34" charset="0"/>
              </a:rPr>
              <a:t>Shell Scraping</a:t>
            </a:r>
          </a:p>
        </p:txBody>
      </p:sp>
    </p:spTree>
    <p:extLst>
      <p:ext uri="{BB962C8B-B14F-4D97-AF65-F5344CB8AC3E}">
        <p14:creationId xmlns:p14="http://schemas.microsoft.com/office/powerpoint/2010/main" val="3517439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EC140B34-AD5B-3628-C731-313F7C06227E}"/>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52BE6D20-90CF-E466-1839-033BB7990C7C}"/>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0D8B4DFD-9CBF-9A00-2B9C-1EBBE806A954}"/>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17</a:t>
            </a:fld>
            <a:endParaRPr lang="en-US"/>
          </a:p>
        </p:txBody>
      </p:sp>
      <p:sp>
        <p:nvSpPr>
          <p:cNvPr id="3" name="Title 2">
            <a:extLst>
              <a:ext uri="{FF2B5EF4-FFF2-40B4-BE49-F238E27FC236}">
                <a16:creationId xmlns:a16="http://schemas.microsoft.com/office/drawing/2014/main" id="{48EC60D9-2A61-8CE0-5A5F-9D012ED98A8A}"/>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Structured Query Language</a:t>
            </a:r>
            <a:endParaRPr lang="en-US" sz="4000" dirty="0">
              <a:solidFill>
                <a:srgbClr val="002060"/>
              </a:solidFill>
              <a:latin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B4D663AE-3B5C-7ECE-E5F5-94E2E9C45F8C}"/>
              </a:ext>
            </a:extLst>
          </p:cNvPr>
          <p:cNvPicPr>
            <a:picLocks noChangeAspect="1"/>
          </p:cNvPicPr>
          <p:nvPr/>
        </p:nvPicPr>
        <p:blipFill>
          <a:blip r:embed="rId3"/>
          <a:srcRect b="7096"/>
          <a:stretch/>
        </p:blipFill>
        <p:spPr>
          <a:xfrm>
            <a:off x="227489" y="2563477"/>
            <a:ext cx="5614416" cy="2933982"/>
          </a:xfrm>
          <a:prstGeom prst="rect">
            <a:avLst/>
          </a:prstGeom>
          <a:solidFill>
            <a:srgbClr val="D8D8D8"/>
          </a:solidFill>
          <a:ln>
            <a:noFill/>
          </a:ln>
        </p:spPr>
      </p:pic>
      <p:pic>
        <p:nvPicPr>
          <p:cNvPr id="6" name="Content Placeholder 5">
            <a:extLst>
              <a:ext uri="{FF2B5EF4-FFF2-40B4-BE49-F238E27FC236}">
                <a16:creationId xmlns:a16="http://schemas.microsoft.com/office/drawing/2014/main" id="{7A143138-76A6-4F79-A4DC-184FF90629C4}"/>
              </a:ext>
            </a:extLst>
          </p:cNvPr>
          <p:cNvPicPr>
            <a:picLocks noChangeAspect="1"/>
          </p:cNvPicPr>
          <p:nvPr/>
        </p:nvPicPr>
        <p:blipFill>
          <a:blip r:embed="rId4"/>
          <a:stretch>
            <a:fillRect/>
          </a:stretch>
        </p:blipFill>
        <p:spPr>
          <a:xfrm>
            <a:off x="6046205" y="2563477"/>
            <a:ext cx="5614416" cy="2933982"/>
          </a:xfrm>
          <a:prstGeom prst="rect">
            <a:avLst/>
          </a:prstGeom>
          <a:noFill/>
          <a:ln>
            <a:noFill/>
          </a:ln>
        </p:spPr>
      </p:pic>
    </p:spTree>
    <p:extLst>
      <p:ext uri="{BB962C8B-B14F-4D97-AF65-F5344CB8AC3E}">
        <p14:creationId xmlns:p14="http://schemas.microsoft.com/office/powerpoint/2010/main" val="4212232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E2C01F1-2394-FD87-CDFD-0F341C00C7FD}"/>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B10D3B43-F509-AFC3-C73A-8EE6D085DB5A}"/>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30DDFF42-5220-79A0-5E56-B40EC388396A}"/>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18</a:t>
            </a:fld>
            <a:endParaRPr lang="en-US"/>
          </a:p>
        </p:txBody>
      </p:sp>
      <p:sp>
        <p:nvSpPr>
          <p:cNvPr id="3" name="Title 2">
            <a:extLst>
              <a:ext uri="{FF2B5EF4-FFF2-40B4-BE49-F238E27FC236}">
                <a16:creationId xmlns:a16="http://schemas.microsoft.com/office/drawing/2014/main" id="{304B9150-615D-7E4B-1F5B-A7C26EFA45C6}"/>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Types of data repositories include:</a:t>
            </a:r>
            <a:endParaRPr lang="en-US" sz="4000" dirty="0">
              <a:solidFill>
                <a:srgbClr val="002060"/>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27AFCEB-A252-A80F-715E-D66E72A6D06E}"/>
              </a:ext>
            </a:extLst>
          </p:cNvPr>
          <p:cNvSpPr txBox="1"/>
          <p:nvPr/>
        </p:nvSpPr>
        <p:spPr>
          <a:xfrm>
            <a:off x="5018807" y="2249441"/>
            <a:ext cx="5058066" cy="1938992"/>
          </a:xfrm>
          <a:prstGeom prst="rect">
            <a:avLst/>
          </a:prstGeom>
          <a:solidFill>
            <a:schemeClr val="bg1"/>
          </a:solidFill>
        </p:spPr>
        <p:txBody>
          <a:bodyPr wrap="square">
            <a:spAutoFit/>
          </a:bodyPr>
          <a:lstStyle/>
          <a:p>
            <a:pPr marL="342900" indent="-342900">
              <a:buClr>
                <a:srgbClr val="00B0F0"/>
              </a:buClr>
              <a:buFont typeface="Arial" panose="020B0604020202020204" pitchFamily="34" charset="0"/>
              <a:buChar char="•"/>
            </a:pPr>
            <a:r>
              <a:rPr lang="en-US" sz="4000" dirty="0">
                <a:solidFill>
                  <a:srgbClr val="002060"/>
                </a:solidFill>
                <a:latin typeface="Calibri" panose="020F0502020204030204" pitchFamily="34" charset="0"/>
                <a:cs typeface="Calibri" panose="020F0502020204030204" pitchFamily="34" charset="0"/>
              </a:rPr>
              <a:t>Databases</a:t>
            </a:r>
          </a:p>
          <a:p>
            <a:pPr marL="342900" indent="-342900">
              <a:buClr>
                <a:srgbClr val="00B0F0"/>
              </a:buClr>
              <a:buFont typeface="Arial" panose="020B0604020202020204" pitchFamily="34" charset="0"/>
              <a:buChar char="•"/>
            </a:pPr>
            <a:r>
              <a:rPr lang="en-US" sz="4000" dirty="0">
                <a:solidFill>
                  <a:srgbClr val="002060"/>
                </a:solidFill>
                <a:latin typeface="Calibri" panose="020F0502020204030204" pitchFamily="34" charset="0"/>
                <a:cs typeface="Calibri" panose="020F0502020204030204" pitchFamily="34" charset="0"/>
              </a:rPr>
              <a:t>Data Warehouses</a:t>
            </a:r>
          </a:p>
          <a:p>
            <a:pPr marL="342900" indent="-342900">
              <a:buClr>
                <a:srgbClr val="00B0F0"/>
              </a:buClr>
              <a:buFont typeface="Arial" panose="020B0604020202020204" pitchFamily="34" charset="0"/>
              <a:buChar char="•"/>
            </a:pPr>
            <a:r>
              <a:rPr lang="en-US" sz="4000" dirty="0">
                <a:solidFill>
                  <a:srgbClr val="002060"/>
                </a:solidFill>
                <a:latin typeface="Calibri" panose="020F0502020204030204" pitchFamily="34" charset="0"/>
                <a:cs typeface="Calibri" panose="020F0502020204030204" pitchFamily="34" charset="0"/>
              </a:rPr>
              <a:t>Big Data Stores</a:t>
            </a:r>
          </a:p>
        </p:txBody>
      </p:sp>
      <p:pic>
        <p:nvPicPr>
          <p:cNvPr id="9" name="Picture 8">
            <a:extLst>
              <a:ext uri="{FF2B5EF4-FFF2-40B4-BE49-F238E27FC236}">
                <a16:creationId xmlns:a16="http://schemas.microsoft.com/office/drawing/2014/main" id="{1C2F7D70-4E66-5198-188B-58FD17FBFBEE}"/>
              </a:ext>
            </a:extLst>
          </p:cNvPr>
          <p:cNvPicPr>
            <a:picLocks noChangeAspect="1"/>
          </p:cNvPicPr>
          <p:nvPr/>
        </p:nvPicPr>
        <p:blipFill>
          <a:blip r:embed="rId3"/>
          <a:stretch>
            <a:fillRect/>
          </a:stretch>
        </p:blipFill>
        <p:spPr>
          <a:xfrm>
            <a:off x="1039091" y="2369127"/>
            <a:ext cx="2119745" cy="2119745"/>
          </a:xfrm>
          <a:prstGeom prst="rect">
            <a:avLst/>
          </a:prstGeom>
        </p:spPr>
      </p:pic>
    </p:spTree>
    <p:extLst>
      <p:ext uri="{BB962C8B-B14F-4D97-AF65-F5344CB8AC3E}">
        <p14:creationId xmlns:p14="http://schemas.microsoft.com/office/powerpoint/2010/main" val="119273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9C269E5B-74E9-4E7D-1E75-D7DE31BBF974}"/>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947D5440-B227-1520-8A47-937CF80F88E4}"/>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837F7FBE-D078-BBC6-F7A4-3B16858CD83D}"/>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19</a:t>
            </a:fld>
            <a:endParaRPr lang="en-US"/>
          </a:p>
        </p:txBody>
      </p:sp>
      <p:sp>
        <p:nvSpPr>
          <p:cNvPr id="3" name="Title 2">
            <a:extLst>
              <a:ext uri="{FF2B5EF4-FFF2-40B4-BE49-F238E27FC236}">
                <a16:creationId xmlns:a16="http://schemas.microsoft.com/office/drawing/2014/main" id="{B61E316F-817B-C6C2-A83A-D6AD6851D8E4}"/>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What is Relational Database?</a:t>
            </a:r>
            <a:endParaRPr lang="en-US" sz="4000" dirty="0">
              <a:solidFill>
                <a:srgbClr val="002060"/>
              </a:solidFill>
              <a:latin typeface="Calibri" panose="020F0502020204030204" pitchFamily="34" charset="0"/>
              <a:cs typeface="Calibri" panose="020F0502020204030204" pitchFamily="34" charset="0"/>
            </a:endParaRPr>
          </a:p>
        </p:txBody>
      </p:sp>
      <p:pic>
        <p:nvPicPr>
          <p:cNvPr id="9" name="Picture 8" descr="Table&#10;&#10;Description automatically generated with medium confidence">
            <a:extLst>
              <a:ext uri="{FF2B5EF4-FFF2-40B4-BE49-F238E27FC236}">
                <a16:creationId xmlns:a16="http://schemas.microsoft.com/office/drawing/2014/main" id="{90BF3447-1875-8D7C-0F76-D4E82E99BC60}"/>
              </a:ext>
            </a:extLst>
          </p:cNvPr>
          <p:cNvPicPr>
            <a:picLocks noChangeAspect="1"/>
          </p:cNvPicPr>
          <p:nvPr/>
        </p:nvPicPr>
        <p:blipFill>
          <a:blip r:embed="rId3"/>
          <a:srcRect t="19827" r="-367"/>
          <a:stretch/>
        </p:blipFill>
        <p:spPr>
          <a:xfrm>
            <a:off x="1144774" y="2013527"/>
            <a:ext cx="9804877" cy="4061321"/>
          </a:xfrm>
          <a:prstGeom prst="rect">
            <a:avLst/>
          </a:prstGeom>
        </p:spPr>
      </p:pic>
    </p:spTree>
    <p:extLst>
      <p:ext uri="{BB962C8B-B14F-4D97-AF65-F5344CB8AC3E}">
        <p14:creationId xmlns:p14="http://schemas.microsoft.com/office/powerpoint/2010/main" val="2641612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B782A37-E704-062F-BE65-A857AA07B38A}"/>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6FF2A905-4D9D-EA1A-2906-619EE214C691}"/>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000A825A-7C1A-7BA9-FA64-B65C0AA6D48E}"/>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20</a:t>
            </a:fld>
            <a:endParaRPr lang="en-US"/>
          </a:p>
        </p:txBody>
      </p:sp>
      <p:sp>
        <p:nvSpPr>
          <p:cNvPr id="3" name="Title 2">
            <a:extLst>
              <a:ext uri="{FF2B5EF4-FFF2-40B4-BE49-F238E27FC236}">
                <a16:creationId xmlns:a16="http://schemas.microsoft.com/office/drawing/2014/main" id="{AF34D2C1-FDA5-413F-19AB-1B67451EAF14}"/>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Advantage of Relational Databases</a:t>
            </a:r>
            <a:endParaRPr lang="en-US" sz="4000" dirty="0">
              <a:solidFill>
                <a:srgbClr val="002060"/>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E0538E4-4BAA-662B-BD3F-542C539317D2}"/>
              </a:ext>
            </a:extLst>
          </p:cNvPr>
          <p:cNvPicPr>
            <a:picLocks noChangeAspect="1"/>
          </p:cNvPicPr>
          <p:nvPr/>
        </p:nvPicPr>
        <p:blipFill>
          <a:blip r:embed="rId3"/>
          <a:stretch>
            <a:fillRect/>
          </a:stretch>
        </p:blipFill>
        <p:spPr>
          <a:xfrm>
            <a:off x="371560" y="2434984"/>
            <a:ext cx="2529612" cy="2529612"/>
          </a:xfrm>
          <a:prstGeom prst="rect">
            <a:avLst/>
          </a:prstGeom>
        </p:spPr>
      </p:pic>
      <p:pic>
        <p:nvPicPr>
          <p:cNvPr id="6" name="Picture 5" descr="Graphical user interface, application&#10;&#10;Description automatically generated">
            <a:extLst>
              <a:ext uri="{FF2B5EF4-FFF2-40B4-BE49-F238E27FC236}">
                <a16:creationId xmlns:a16="http://schemas.microsoft.com/office/drawing/2014/main" id="{5497F60A-AA98-AEEF-74BF-F5A182B8E38B}"/>
              </a:ext>
            </a:extLst>
          </p:cNvPr>
          <p:cNvPicPr>
            <a:picLocks noChangeAspect="1"/>
          </p:cNvPicPr>
          <p:nvPr/>
        </p:nvPicPr>
        <p:blipFill rotWithShape="1">
          <a:blip r:embed="rId4"/>
          <a:srcRect l="36287" t="14873" r="-2" b="9282"/>
          <a:stretch/>
        </p:blipFill>
        <p:spPr>
          <a:xfrm>
            <a:off x="4202689" y="2132993"/>
            <a:ext cx="6694101" cy="4223357"/>
          </a:xfrm>
          <a:prstGeom prst="rect">
            <a:avLst/>
          </a:prstGeom>
        </p:spPr>
      </p:pic>
    </p:spTree>
    <p:extLst>
      <p:ext uri="{BB962C8B-B14F-4D97-AF65-F5344CB8AC3E}">
        <p14:creationId xmlns:p14="http://schemas.microsoft.com/office/powerpoint/2010/main" val="672113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370CF11-39CF-8297-3DC4-77F9004FC7F4}"/>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6F9C9C30-DB94-64A3-9DF8-B8068FC3CCF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A194DC0A-6105-D159-3DE4-803F2AC914FF}"/>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21</a:t>
            </a:fld>
            <a:endParaRPr lang="en-US"/>
          </a:p>
        </p:txBody>
      </p:sp>
      <p:sp>
        <p:nvSpPr>
          <p:cNvPr id="3" name="Title 2">
            <a:extLst>
              <a:ext uri="{FF2B5EF4-FFF2-40B4-BE49-F238E27FC236}">
                <a16:creationId xmlns:a16="http://schemas.microsoft.com/office/drawing/2014/main" id="{EBD4AACC-E278-8016-0E5B-B35DACD96E56}"/>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Structured Query Language </a:t>
            </a:r>
            <a:endParaRPr lang="en-US" sz="4000" dirty="0">
              <a:solidFill>
                <a:srgbClr val="002060"/>
              </a:solidFill>
              <a:latin typeface="Calibri" panose="020F0502020204030204" pitchFamily="34" charset="0"/>
              <a:cs typeface="Calibri" panose="020F0502020204030204" pitchFamily="34" charset="0"/>
            </a:endParaRPr>
          </a:p>
        </p:txBody>
      </p:sp>
      <p:pic>
        <p:nvPicPr>
          <p:cNvPr id="2" name="Picture 1" descr="Text&#10;&#10;Description automatically generated">
            <a:extLst>
              <a:ext uri="{FF2B5EF4-FFF2-40B4-BE49-F238E27FC236}">
                <a16:creationId xmlns:a16="http://schemas.microsoft.com/office/drawing/2014/main" id="{C42D8FBD-74AE-B338-C272-9FD7355A5D53}"/>
              </a:ext>
            </a:extLst>
          </p:cNvPr>
          <p:cNvPicPr>
            <a:picLocks noChangeAspect="1"/>
          </p:cNvPicPr>
          <p:nvPr/>
        </p:nvPicPr>
        <p:blipFill>
          <a:blip r:embed="rId3">
            <a:extLst>
              <a:ext uri="{28A0092B-C50C-407E-A947-70E740481C1C}">
                <a14:useLocalDpi xmlns:a14="http://schemas.microsoft.com/office/drawing/2010/main" val="0"/>
              </a:ext>
            </a:extLst>
          </a:blip>
          <a:srcRect l="1441" t="43288" r="1876" b="5775"/>
          <a:stretch/>
        </p:blipFill>
        <p:spPr>
          <a:xfrm>
            <a:off x="600363" y="2484901"/>
            <a:ext cx="10243128" cy="2401455"/>
          </a:xfrm>
          <a:prstGeom prst="rect">
            <a:avLst/>
          </a:prstGeom>
        </p:spPr>
      </p:pic>
    </p:spTree>
    <p:extLst>
      <p:ext uri="{BB962C8B-B14F-4D97-AF65-F5344CB8AC3E}">
        <p14:creationId xmlns:p14="http://schemas.microsoft.com/office/powerpoint/2010/main" val="1593329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868ED84F-31C8-7B16-1951-E345C28CEFE1}"/>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0A1AE763-77D5-424C-7BF1-B068BDFE90CC}"/>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84A22E98-5BF1-39E9-C60C-4667436019D6}"/>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22</a:t>
            </a:fld>
            <a:endParaRPr lang="en-US"/>
          </a:p>
        </p:txBody>
      </p:sp>
      <p:sp>
        <p:nvSpPr>
          <p:cNvPr id="3" name="Title 2">
            <a:extLst>
              <a:ext uri="{FF2B5EF4-FFF2-40B4-BE49-F238E27FC236}">
                <a16:creationId xmlns:a16="http://schemas.microsoft.com/office/drawing/2014/main" id="{8DA06CAA-C81B-E8AB-4F5A-F19286D10D29}"/>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Examples of RDBMS</a:t>
            </a:r>
            <a:endParaRPr lang="en-US" sz="4000" dirty="0">
              <a:solidFill>
                <a:srgbClr val="002060"/>
              </a:solidFill>
              <a:latin typeface="Calibri" panose="020F0502020204030204" pitchFamily="34" charset="0"/>
              <a:cs typeface="Calibri" panose="020F0502020204030204" pitchFamily="34" charset="0"/>
            </a:endParaRPr>
          </a:p>
        </p:txBody>
      </p:sp>
      <p:pic>
        <p:nvPicPr>
          <p:cNvPr id="2" name="Picture 1" descr="Graphical user interface, application&#10;&#10;Description automatically generated">
            <a:extLst>
              <a:ext uri="{FF2B5EF4-FFF2-40B4-BE49-F238E27FC236}">
                <a16:creationId xmlns:a16="http://schemas.microsoft.com/office/drawing/2014/main" id="{AF1709F5-2C08-00E8-FC22-9EBDD10BECC4}"/>
              </a:ext>
            </a:extLst>
          </p:cNvPr>
          <p:cNvPicPr>
            <a:picLocks noChangeAspect="1"/>
          </p:cNvPicPr>
          <p:nvPr/>
        </p:nvPicPr>
        <p:blipFill>
          <a:blip r:embed="rId3"/>
          <a:srcRect l="34752" b="6956"/>
          <a:stretch/>
        </p:blipFill>
        <p:spPr>
          <a:xfrm>
            <a:off x="531380" y="1953122"/>
            <a:ext cx="7342620" cy="4193897"/>
          </a:xfrm>
          <a:prstGeom prst="rect">
            <a:avLst/>
          </a:prstGeom>
        </p:spPr>
      </p:pic>
    </p:spTree>
    <p:extLst>
      <p:ext uri="{BB962C8B-B14F-4D97-AF65-F5344CB8AC3E}">
        <p14:creationId xmlns:p14="http://schemas.microsoft.com/office/powerpoint/2010/main" val="1085930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9F57AD1F-53FF-D12A-D3A5-D48ABC78E0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3361" y="909136"/>
            <a:ext cx="5277202" cy="5039728"/>
          </a:xfrm>
          <a:prstGeom prst="rect">
            <a:avLst/>
          </a:prstGeom>
        </p:spPr>
      </p:pic>
      <p:sp>
        <p:nvSpPr>
          <p:cNvPr id="4" name="Google Shape;239;p3">
            <a:extLst>
              <a:ext uri="{FF2B5EF4-FFF2-40B4-BE49-F238E27FC236}">
                <a16:creationId xmlns:a16="http://schemas.microsoft.com/office/drawing/2014/main" id="{05B7CDCE-84C8-0A6F-C620-EDD0BE1EC68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23</a:t>
            </a:fld>
            <a:endParaRPr lang="en-US" dirty="0"/>
          </a:p>
        </p:txBody>
      </p:sp>
    </p:spTree>
    <p:extLst>
      <p:ext uri="{BB962C8B-B14F-4D97-AF65-F5344CB8AC3E}">
        <p14:creationId xmlns:p14="http://schemas.microsoft.com/office/powerpoint/2010/main" val="3424859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882153C7-71DF-A70E-18E2-BFF7F3B0F113}"/>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F1C4A6DC-D896-1BD8-B9D0-05F1F1CBBA9D}"/>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74231581-2BB6-D3A4-56EB-9CE49674A503}"/>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24</a:t>
            </a:fld>
            <a:endParaRPr lang="en-US"/>
          </a:p>
        </p:txBody>
      </p:sp>
      <p:pic>
        <p:nvPicPr>
          <p:cNvPr id="3" name="Picture 2">
            <a:extLst>
              <a:ext uri="{FF2B5EF4-FFF2-40B4-BE49-F238E27FC236}">
                <a16:creationId xmlns:a16="http://schemas.microsoft.com/office/drawing/2014/main" id="{BAE2D484-5C12-3D7D-8761-F29771BB9895}"/>
              </a:ext>
            </a:extLst>
          </p:cNvPr>
          <p:cNvPicPr>
            <a:picLocks noChangeAspect="1"/>
          </p:cNvPicPr>
          <p:nvPr/>
        </p:nvPicPr>
        <p:blipFill>
          <a:blip r:embed="rId3">
            <a:duotone>
              <a:prstClr val="black"/>
              <a:srgbClr val="FF0000">
                <a:tint val="45000"/>
                <a:satMod val="400000"/>
              </a:srgbClr>
            </a:duotone>
          </a:blip>
          <a:stretch>
            <a:fillRect/>
          </a:stretch>
        </p:blipFill>
        <p:spPr>
          <a:xfrm>
            <a:off x="1261575" y="2286802"/>
            <a:ext cx="2284396" cy="2284396"/>
          </a:xfrm>
          <a:prstGeom prst="rect">
            <a:avLst/>
          </a:prstGeom>
        </p:spPr>
      </p:pic>
      <p:sp>
        <p:nvSpPr>
          <p:cNvPr id="5" name="Title 2">
            <a:extLst>
              <a:ext uri="{FF2B5EF4-FFF2-40B4-BE49-F238E27FC236}">
                <a16:creationId xmlns:a16="http://schemas.microsoft.com/office/drawing/2014/main" id="{58CFB70A-0F1A-58EC-331A-BE733FAEC97B}"/>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Limitations of RDBMS</a:t>
            </a:r>
            <a:endParaRPr lang="en-US" sz="4000" dirty="0">
              <a:solidFill>
                <a:srgbClr val="002060"/>
              </a:solidFill>
              <a:latin typeface="Calibri" panose="020F0502020204030204" pitchFamily="34" charset="0"/>
              <a:cs typeface="Calibri" panose="020F0502020204030204" pitchFamily="34" charset="0"/>
            </a:endParaRPr>
          </a:p>
        </p:txBody>
      </p:sp>
      <p:pic>
        <p:nvPicPr>
          <p:cNvPr id="6" name="Picture 5" descr="Graphical user interface, application, Word&#10;&#10;Description automatically generated">
            <a:extLst>
              <a:ext uri="{FF2B5EF4-FFF2-40B4-BE49-F238E27FC236}">
                <a16:creationId xmlns:a16="http://schemas.microsoft.com/office/drawing/2014/main" id="{40C11120-832F-5E99-AAB9-B757E6E30010}"/>
              </a:ext>
            </a:extLst>
          </p:cNvPr>
          <p:cNvPicPr>
            <a:picLocks noChangeAspect="1"/>
          </p:cNvPicPr>
          <p:nvPr/>
        </p:nvPicPr>
        <p:blipFill rotWithShape="1">
          <a:blip r:embed="rId4"/>
          <a:srcRect l="35935" t="22364" r="-1" b="11519"/>
          <a:stretch/>
        </p:blipFill>
        <p:spPr>
          <a:xfrm>
            <a:off x="4786038" y="2216551"/>
            <a:ext cx="6731046" cy="3664333"/>
          </a:xfrm>
          <a:prstGeom prst="rect">
            <a:avLst/>
          </a:prstGeom>
        </p:spPr>
      </p:pic>
    </p:spTree>
    <p:extLst>
      <p:ext uri="{BB962C8B-B14F-4D97-AF65-F5344CB8AC3E}">
        <p14:creationId xmlns:p14="http://schemas.microsoft.com/office/powerpoint/2010/main" val="690318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8807DD54-38C6-B175-15D1-C3CB7C6E4CE2}"/>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89306553-B30F-4965-B74B-EAFE3367B8C0}"/>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776B013E-358C-E96A-492C-6E8F3C6E3208}"/>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25</a:t>
            </a:fld>
            <a:endParaRPr lang="en-US"/>
          </a:p>
        </p:txBody>
      </p:sp>
      <p:pic>
        <p:nvPicPr>
          <p:cNvPr id="3074" name="Picture 2" descr="‪Exploring NoSQL Databases: A Comparison to Traditional SQL -‬‏">
            <a:extLst>
              <a:ext uri="{FF2B5EF4-FFF2-40B4-BE49-F238E27FC236}">
                <a16:creationId xmlns:a16="http://schemas.microsoft.com/office/drawing/2014/main" id="{8C0B2BEC-E8C9-9995-CF0A-D22A424DD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354" y="2546575"/>
            <a:ext cx="2257425" cy="2028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88F40680-C5CB-5711-6550-09B857714A15}"/>
              </a:ext>
            </a:extLst>
          </p:cNvPr>
          <p:cNvSpPr>
            <a:spLocks noGrp="1"/>
          </p:cNvSpPr>
          <p:nvPr>
            <p:ph type="title"/>
          </p:nvPr>
        </p:nvSpPr>
        <p:spPr>
          <a:xfrm>
            <a:off x="0" y="613630"/>
            <a:ext cx="4807547" cy="1279775"/>
          </a:xfrm>
        </p:spPr>
        <p:txBody>
          <a:bodyPr>
            <a:noAutofit/>
          </a:bodyPr>
          <a:lstStyle/>
          <a:p>
            <a:pPr>
              <a:buClr>
                <a:srgbClr val="EAB200"/>
              </a:buClr>
              <a:buSzPct val="100000"/>
            </a:pPr>
            <a:r>
              <a:rPr lang="en-US" sz="4000" b="1" dirty="0">
                <a:solidFill>
                  <a:srgbClr val="002060"/>
                </a:solidFill>
                <a:latin typeface="Calibri" panose="020F0502020204030204" pitchFamily="34" charset="0"/>
                <a:cs typeface="Calibri" panose="020F0502020204030204" pitchFamily="34" charset="0"/>
              </a:rPr>
              <a:t>Advantage of NoSQL </a:t>
            </a:r>
            <a:endParaRPr lang="en-US" sz="4000" dirty="0">
              <a:solidFill>
                <a:srgbClr val="002060"/>
              </a:solidFill>
              <a:latin typeface="Calibri" panose="020F0502020204030204" pitchFamily="34" charset="0"/>
              <a:cs typeface="Calibri" panose="020F0502020204030204" pitchFamily="34" charset="0"/>
            </a:endParaRPr>
          </a:p>
        </p:txBody>
      </p:sp>
      <p:pic>
        <p:nvPicPr>
          <p:cNvPr id="3" name="Picture 2" descr="Graphical user interface, application&#10;&#10;Description automatically generated">
            <a:extLst>
              <a:ext uri="{FF2B5EF4-FFF2-40B4-BE49-F238E27FC236}">
                <a16:creationId xmlns:a16="http://schemas.microsoft.com/office/drawing/2014/main" id="{4714933A-755F-B289-B2BC-CA8CFB04E115}"/>
              </a:ext>
            </a:extLst>
          </p:cNvPr>
          <p:cNvPicPr>
            <a:picLocks noChangeAspect="1"/>
          </p:cNvPicPr>
          <p:nvPr/>
        </p:nvPicPr>
        <p:blipFill rotWithShape="1">
          <a:blip r:embed="rId4">
            <a:extLst>
              <a:ext uri="{28A0092B-C50C-407E-A947-70E740481C1C}">
                <a14:useLocalDpi xmlns:a14="http://schemas.microsoft.com/office/drawing/2010/main" val="0"/>
              </a:ext>
            </a:extLst>
          </a:blip>
          <a:srcRect l="34968" t="2589" r="-2" b="8714"/>
          <a:stretch/>
        </p:blipFill>
        <p:spPr>
          <a:xfrm>
            <a:off x="4535054" y="998267"/>
            <a:ext cx="6832646" cy="5125443"/>
          </a:xfrm>
          <a:prstGeom prst="rect">
            <a:avLst/>
          </a:prstGeom>
        </p:spPr>
      </p:pic>
    </p:spTree>
    <p:extLst>
      <p:ext uri="{BB962C8B-B14F-4D97-AF65-F5344CB8AC3E}">
        <p14:creationId xmlns:p14="http://schemas.microsoft.com/office/powerpoint/2010/main" val="3958879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64B6CA1-9197-9903-F90E-094EBA71AFCB}"/>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FD4A4996-AA88-36B6-EE10-71741D99C52A}"/>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F3C35D04-6B44-003B-B09A-525CE5E8F44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26</a:t>
            </a:fld>
            <a:endParaRPr lang="en-US"/>
          </a:p>
        </p:txBody>
      </p:sp>
      <p:sp>
        <p:nvSpPr>
          <p:cNvPr id="2" name="Title 2">
            <a:extLst>
              <a:ext uri="{FF2B5EF4-FFF2-40B4-BE49-F238E27FC236}">
                <a16:creationId xmlns:a16="http://schemas.microsoft.com/office/drawing/2014/main" id="{6988F3C3-A25A-D923-B571-33737DD6EFC6}"/>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Key-Value Store</a:t>
            </a:r>
          </a:p>
        </p:txBody>
      </p:sp>
      <p:pic>
        <p:nvPicPr>
          <p:cNvPr id="6" name="Picture 5" descr="A screenshot of a computer&#10;&#10;Description automatically generated">
            <a:extLst>
              <a:ext uri="{FF2B5EF4-FFF2-40B4-BE49-F238E27FC236}">
                <a16:creationId xmlns:a16="http://schemas.microsoft.com/office/drawing/2014/main" id="{10038FCC-00B7-28F8-3377-7212D6F1F2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99855"/>
            <a:ext cx="5569527" cy="3132859"/>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0C59DB69-12BF-3226-D31D-DDF50E788793}"/>
              </a:ext>
            </a:extLst>
          </p:cNvPr>
          <p:cNvPicPr>
            <a:picLocks noChangeAspect="1"/>
          </p:cNvPicPr>
          <p:nvPr/>
        </p:nvPicPr>
        <p:blipFill>
          <a:blip r:embed="rId4">
            <a:extLst>
              <a:ext uri="{28A0092B-C50C-407E-A947-70E740481C1C}">
                <a14:useLocalDpi xmlns:a14="http://schemas.microsoft.com/office/drawing/2010/main" val="0"/>
              </a:ext>
            </a:extLst>
          </a:blip>
          <a:srcRect l="35990" b="16444"/>
          <a:stretch/>
        </p:blipFill>
        <p:spPr>
          <a:xfrm>
            <a:off x="5499158" y="1179819"/>
            <a:ext cx="5812441" cy="4211012"/>
          </a:xfrm>
          <a:prstGeom prst="rect">
            <a:avLst/>
          </a:prstGeom>
        </p:spPr>
      </p:pic>
    </p:spTree>
    <p:extLst>
      <p:ext uri="{BB962C8B-B14F-4D97-AF65-F5344CB8AC3E}">
        <p14:creationId xmlns:p14="http://schemas.microsoft.com/office/powerpoint/2010/main" val="3966098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3293C76A-EF1E-4B2D-8D4D-ADA34FD5E1D6}"/>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417CF5EC-F49A-CE86-EE47-7079DA78F70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13CB52EE-FB19-C1BB-69D2-FB94EA658963}"/>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27</a:t>
            </a:fld>
            <a:endParaRPr lang="en-US"/>
          </a:p>
        </p:txBody>
      </p:sp>
      <p:pic>
        <p:nvPicPr>
          <p:cNvPr id="5" name="Picture 4" descr="Text&#10;&#10;Description automatically generated">
            <a:extLst>
              <a:ext uri="{FF2B5EF4-FFF2-40B4-BE49-F238E27FC236}">
                <a16:creationId xmlns:a16="http://schemas.microsoft.com/office/drawing/2014/main" id="{5DC0417C-64F9-22B4-2A45-F52BADE56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211" y="813673"/>
            <a:ext cx="10337292" cy="4910212"/>
          </a:xfrm>
          <a:prstGeom prst="rect">
            <a:avLst/>
          </a:prstGeom>
        </p:spPr>
      </p:pic>
    </p:spTree>
    <p:extLst>
      <p:ext uri="{BB962C8B-B14F-4D97-AF65-F5344CB8AC3E}">
        <p14:creationId xmlns:p14="http://schemas.microsoft.com/office/powerpoint/2010/main" val="1814537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3D7F4F2E-43CA-7306-AB98-E43D1D39CA66}"/>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A47C5142-E040-280C-1CF4-0080D2B8FF33}"/>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937C3A12-0BA9-94D6-3475-1A998A2D289A}"/>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28</a:t>
            </a:fld>
            <a:endParaRPr lang="en-US"/>
          </a:p>
        </p:txBody>
      </p:sp>
      <p:sp>
        <p:nvSpPr>
          <p:cNvPr id="2" name="Title 2">
            <a:extLst>
              <a:ext uri="{FF2B5EF4-FFF2-40B4-BE49-F238E27FC236}">
                <a16:creationId xmlns:a16="http://schemas.microsoft.com/office/drawing/2014/main" id="{4A15CB97-52F3-21A8-AAA0-4277F962271C}"/>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Key-Value Store</a:t>
            </a:r>
          </a:p>
        </p:txBody>
      </p:sp>
      <p:pic>
        <p:nvPicPr>
          <p:cNvPr id="4" name="Picture 3" descr="Graphical user interface, application&#10;&#10;Description automatically generated">
            <a:extLst>
              <a:ext uri="{FF2B5EF4-FFF2-40B4-BE49-F238E27FC236}">
                <a16:creationId xmlns:a16="http://schemas.microsoft.com/office/drawing/2014/main" id="{1535B380-A140-C51B-3716-CF12F019F3E2}"/>
              </a:ext>
            </a:extLst>
          </p:cNvPr>
          <p:cNvPicPr>
            <a:picLocks noChangeAspect="1"/>
          </p:cNvPicPr>
          <p:nvPr/>
        </p:nvPicPr>
        <p:blipFill rotWithShape="1">
          <a:blip r:embed="rId3">
            <a:extLst>
              <a:ext uri="{28A0092B-C50C-407E-A947-70E740481C1C}">
                <a14:useLocalDpi xmlns:a14="http://schemas.microsoft.com/office/drawing/2010/main" val="0"/>
              </a:ext>
            </a:extLst>
          </a:blip>
          <a:srcRect l="38592" t="19260" r="2223" b="24310"/>
          <a:stretch/>
        </p:blipFill>
        <p:spPr>
          <a:xfrm>
            <a:off x="1806016" y="2073950"/>
            <a:ext cx="7379855" cy="3870036"/>
          </a:xfrm>
          <a:prstGeom prst="rect">
            <a:avLst/>
          </a:prstGeom>
        </p:spPr>
      </p:pic>
    </p:spTree>
    <p:extLst>
      <p:ext uri="{BB962C8B-B14F-4D97-AF65-F5344CB8AC3E}">
        <p14:creationId xmlns:p14="http://schemas.microsoft.com/office/powerpoint/2010/main" val="2690927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E2D716FA-B9C1-26B5-65BA-020429B77D32}"/>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DEDF26FF-1D90-F811-B1CF-2B63560C986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1B4BDC77-E3DC-4429-6CE9-5A6D925AA505}"/>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29</a:t>
            </a:fld>
            <a:endParaRPr lang="en-US"/>
          </a:p>
        </p:txBody>
      </p:sp>
      <p:sp>
        <p:nvSpPr>
          <p:cNvPr id="2" name="Title 2">
            <a:extLst>
              <a:ext uri="{FF2B5EF4-FFF2-40B4-BE49-F238E27FC236}">
                <a16:creationId xmlns:a16="http://schemas.microsoft.com/office/drawing/2014/main" id="{A46E6950-5FEA-4644-899B-019F13A7A15A}"/>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Column Based</a:t>
            </a:r>
          </a:p>
        </p:txBody>
      </p:sp>
      <p:pic>
        <p:nvPicPr>
          <p:cNvPr id="8" name="Picture 7">
            <a:extLst>
              <a:ext uri="{FF2B5EF4-FFF2-40B4-BE49-F238E27FC236}">
                <a16:creationId xmlns:a16="http://schemas.microsoft.com/office/drawing/2014/main" id="{E121BA01-2816-BC9A-8CC4-C2746AF0D350}"/>
              </a:ext>
            </a:extLst>
          </p:cNvPr>
          <p:cNvPicPr>
            <a:picLocks noChangeAspect="1"/>
          </p:cNvPicPr>
          <p:nvPr/>
        </p:nvPicPr>
        <p:blipFill>
          <a:blip r:embed="rId3"/>
          <a:stretch>
            <a:fillRect/>
          </a:stretch>
        </p:blipFill>
        <p:spPr>
          <a:xfrm>
            <a:off x="760276" y="2084934"/>
            <a:ext cx="2174876" cy="2174876"/>
          </a:xfrm>
          <a:prstGeom prst="rect">
            <a:avLst/>
          </a:prstGeom>
        </p:spPr>
      </p:pic>
      <p:pic>
        <p:nvPicPr>
          <p:cNvPr id="9" name="Picture 8" descr="Graphical user interface, application&#10;&#10;Description automatically generated">
            <a:extLst>
              <a:ext uri="{FF2B5EF4-FFF2-40B4-BE49-F238E27FC236}">
                <a16:creationId xmlns:a16="http://schemas.microsoft.com/office/drawing/2014/main" id="{FD431124-969A-97A3-DA6A-569F39CE00BD}"/>
              </a:ext>
            </a:extLst>
          </p:cNvPr>
          <p:cNvPicPr>
            <a:picLocks noChangeAspect="1"/>
          </p:cNvPicPr>
          <p:nvPr/>
        </p:nvPicPr>
        <p:blipFill rotWithShape="1">
          <a:blip r:embed="rId4">
            <a:extLst>
              <a:ext uri="{28A0092B-C50C-407E-A947-70E740481C1C}">
                <a14:useLocalDpi xmlns:a14="http://schemas.microsoft.com/office/drawing/2010/main" val="0"/>
              </a:ext>
            </a:extLst>
          </a:blip>
          <a:srcRect l="34792" r="-1" b="22842"/>
          <a:stretch/>
        </p:blipFill>
        <p:spPr>
          <a:xfrm>
            <a:off x="4073235" y="932923"/>
            <a:ext cx="6851119" cy="4478897"/>
          </a:xfrm>
          <a:prstGeom prst="rect">
            <a:avLst/>
          </a:prstGeom>
        </p:spPr>
      </p:pic>
    </p:spTree>
    <p:extLst>
      <p:ext uri="{BB962C8B-B14F-4D97-AF65-F5344CB8AC3E}">
        <p14:creationId xmlns:p14="http://schemas.microsoft.com/office/powerpoint/2010/main" val="4082747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58E29D43-12BE-33E7-3D88-612D48DAF150}"/>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8DC0FDEB-A498-9395-1180-530C4C42E1FA}"/>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299F4B30-6198-58C7-2A20-EF71AAD338BF}"/>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30</a:t>
            </a:fld>
            <a:endParaRPr lang="en-US"/>
          </a:p>
        </p:txBody>
      </p:sp>
      <p:pic>
        <p:nvPicPr>
          <p:cNvPr id="5" name="Picture 4" descr="A diagram of a computer&#10;&#10;Description automatically generated with medium confidence">
            <a:extLst>
              <a:ext uri="{FF2B5EF4-FFF2-40B4-BE49-F238E27FC236}">
                <a16:creationId xmlns:a16="http://schemas.microsoft.com/office/drawing/2014/main" id="{9C1CC356-DEA3-561A-A15F-8749161B12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989" y="244042"/>
            <a:ext cx="9363075" cy="6027450"/>
          </a:xfrm>
          <a:prstGeom prst="rect">
            <a:avLst/>
          </a:prstGeom>
        </p:spPr>
      </p:pic>
    </p:spTree>
    <p:extLst>
      <p:ext uri="{BB962C8B-B14F-4D97-AF65-F5344CB8AC3E}">
        <p14:creationId xmlns:p14="http://schemas.microsoft.com/office/powerpoint/2010/main" val="11453765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546E161-AB58-ED08-D383-079EDBFE9E88}"/>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48FE2E2E-1CDA-0376-E2AD-712108094D54}"/>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156E1E53-C0F4-130A-B865-CF1C7F62A1C1}"/>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31</a:t>
            </a:fld>
            <a:endParaRPr lang="en-US"/>
          </a:p>
        </p:txBody>
      </p:sp>
      <p:sp>
        <p:nvSpPr>
          <p:cNvPr id="2" name="Title 2">
            <a:extLst>
              <a:ext uri="{FF2B5EF4-FFF2-40B4-BE49-F238E27FC236}">
                <a16:creationId xmlns:a16="http://schemas.microsoft.com/office/drawing/2014/main" id="{F637606D-6E23-C41F-8707-85EDCE0CCA77}"/>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Column Based</a:t>
            </a:r>
          </a:p>
        </p:txBody>
      </p:sp>
      <p:pic>
        <p:nvPicPr>
          <p:cNvPr id="8" name="Picture 7">
            <a:extLst>
              <a:ext uri="{FF2B5EF4-FFF2-40B4-BE49-F238E27FC236}">
                <a16:creationId xmlns:a16="http://schemas.microsoft.com/office/drawing/2014/main" id="{E049ACB1-BF98-FB6B-3400-6F64B5CFA45F}"/>
              </a:ext>
            </a:extLst>
          </p:cNvPr>
          <p:cNvPicPr>
            <a:picLocks noChangeAspect="1"/>
          </p:cNvPicPr>
          <p:nvPr/>
        </p:nvPicPr>
        <p:blipFill>
          <a:blip r:embed="rId3"/>
          <a:stretch>
            <a:fillRect/>
          </a:stretch>
        </p:blipFill>
        <p:spPr>
          <a:xfrm>
            <a:off x="760276" y="2084934"/>
            <a:ext cx="2174876" cy="2174876"/>
          </a:xfrm>
          <a:prstGeom prst="rect">
            <a:avLst/>
          </a:prstGeom>
        </p:spPr>
      </p:pic>
      <p:pic>
        <p:nvPicPr>
          <p:cNvPr id="9" name="Picture 8" descr="Graphical user interface, application&#10;&#10;Description automatically generated">
            <a:extLst>
              <a:ext uri="{FF2B5EF4-FFF2-40B4-BE49-F238E27FC236}">
                <a16:creationId xmlns:a16="http://schemas.microsoft.com/office/drawing/2014/main" id="{5DDF5B29-D083-24BF-3111-B18657E58F51}"/>
              </a:ext>
            </a:extLst>
          </p:cNvPr>
          <p:cNvPicPr>
            <a:picLocks noChangeAspect="1"/>
          </p:cNvPicPr>
          <p:nvPr/>
        </p:nvPicPr>
        <p:blipFill rotWithShape="1">
          <a:blip r:embed="rId4">
            <a:extLst>
              <a:ext uri="{28A0092B-C50C-407E-A947-70E740481C1C}">
                <a14:useLocalDpi xmlns:a14="http://schemas.microsoft.com/office/drawing/2010/main" val="0"/>
              </a:ext>
            </a:extLst>
          </a:blip>
          <a:srcRect l="34792" r="-1" b="22842"/>
          <a:stretch/>
        </p:blipFill>
        <p:spPr>
          <a:xfrm>
            <a:off x="4073235" y="932923"/>
            <a:ext cx="6851119" cy="4478897"/>
          </a:xfrm>
          <a:prstGeom prst="rect">
            <a:avLst/>
          </a:prstGeom>
        </p:spPr>
      </p:pic>
    </p:spTree>
    <p:extLst>
      <p:ext uri="{BB962C8B-B14F-4D97-AF65-F5344CB8AC3E}">
        <p14:creationId xmlns:p14="http://schemas.microsoft.com/office/powerpoint/2010/main" val="1627611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DBB31A47-3F4C-E0BD-39C1-F76B8174CB28}"/>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959F2F44-C073-321A-8A54-DB48CF47DE79}"/>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BA68186D-79F9-9E64-9991-515102EC999F}"/>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32</a:t>
            </a:fld>
            <a:endParaRPr lang="en-US"/>
          </a:p>
        </p:txBody>
      </p:sp>
      <p:sp>
        <p:nvSpPr>
          <p:cNvPr id="2" name="Title 2">
            <a:extLst>
              <a:ext uri="{FF2B5EF4-FFF2-40B4-BE49-F238E27FC236}">
                <a16:creationId xmlns:a16="http://schemas.microsoft.com/office/drawing/2014/main" id="{3B8A4924-BCD6-C5E7-1BFF-F410566CE140}"/>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Column Based</a:t>
            </a:r>
          </a:p>
        </p:txBody>
      </p:sp>
      <p:pic>
        <p:nvPicPr>
          <p:cNvPr id="8" name="Picture 7">
            <a:extLst>
              <a:ext uri="{FF2B5EF4-FFF2-40B4-BE49-F238E27FC236}">
                <a16:creationId xmlns:a16="http://schemas.microsoft.com/office/drawing/2014/main" id="{AC8568D3-EDFF-183E-397B-2AC423F022F2}"/>
              </a:ext>
            </a:extLst>
          </p:cNvPr>
          <p:cNvPicPr>
            <a:picLocks noChangeAspect="1"/>
          </p:cNvPicPr>
          <p:nvPr/>
        </p:nvPicPr>
        <p:blipFill>
          <a:blip r:embed="rId3"/>
          <a:stretch>
            <a:fillRect/>
          </a:stretch>
        </p:blipFill>
        <p:spPr>
          <a:xfrm>
            <a:off x="760276" y="2084934"/>
            <a:ext cx="2174876" cy="2174876"/>
          </a:xfrm>
          <a:prstGeom prst="rect">
            <a:avLst/>
          </a:prstGeom>
        </p:spPr>
      </p:pic>
      <p:pic>
        <p:nvPicPr>
          <p:cNvPr id="3" name="Picture 2" descr="A picture containing application&#10;&#10;Description automatically generated">
            <a:extLst>
              <a:ext uri="{FF2B5EF4-FFF2-40B4-BE49-F238E27FC236}">
                <a16:creationId xmlns:a16="http://schemas.microsoft.com/office/drawing/2014/main" id="{3A4404DD-24E6-5704-31DA-F4B42C9C2026}"/>
              </a:ext>
            </a:extLst>
          </p:cNvPr>
          <p:cNvPicPr>
            <a:picLocks noChangeAspect="1"/>
          </p:cNvPicPr>
          <p:nvPr/>
        </p:nvPicPr>
        <p:blipFill>
          <a:blip r:embed="rId4">
            <a:extLst>
              <a:ext uri="{28A0092B-C50C-407E-A947-70E740481C1C}">
                <a14:useLocalDpi xmlns:a14="http://schemas.microsoft.com/office/drawing/2010/main" val="0"/>
              </a:ext>
            </a:extLst>
          </a:blip>
          <a:srcRect l="35290" t="22527" b="25974"/>
          <a:stretch/>
        </p:blipFill>
        <p:spPr>
          <a:xfrm>
            <a:off x="4431504" y="1983334"/>
            <a:ext cx="6124357" cy="3373757"/>
          </a:xfrm>
          <a:prstGeom prst="rect">
            <a:avLst/>
          </a:prstGeom>
        </p:spPr>
      </p:pic>
    </p:spTree>
    <p:extLst>
      <p:ext uri="{BB962C8B-B14F-4D97-AF65-F5344CB8AC3E}">
        <p14:creationId xmlns:p14="http://schemas.microsoft.com/office/powerpoint/2010/main" val="1346562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9E46987-39A0-420A-A935-A97386EE4DCB}"/>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BF9C2C46-FB1B-F9AF-9F89-DB940755FEA8}"/>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A56D6C46-1326-BEFA-940B-70454CEAE8E9}"/>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33</a:t>
            </a:fld>
            <a:endParaRPr lang="en-US"/>
          </a:p>
        </p:txBody>
      </p:sp>
      <p:sp>
        <p:nvSpPr>
          <p:cNvPr id="2" name="Title 2">
            <a:extLst>
              <a:ext uri="{FF2B5EF4-FFF2-40B4-BE49-F238E27FC236}">
                <a16:creationId xmlns:a16="http://schemas.microsoft.com/office/drawing/2014/main" id="{73917556-992C-1EDC-DE36-71E665F03345}"/>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Document Based</a:t>
            </a:r>
          </a:p>
        </p:txBody>
      </p:sp>
      <p:pic>
        <p:nvPicPr>
          <p:cNvPr id="5" name="Picture 4">
            <a:extLst>
              <a:ext uri="{FF2B5EF4-FFF2-40B4-BE49-F238E27FC236}">
                <a16:creationId xmlns:a16="http://schemas.microsoft.com/office/drawing/2014/main" id="{F6082B65-7694-908F-174E-14AFF86EF1E2}"/>
              </a:ext>
            </a:extLst>
          </p:cNvPr>
          <p:cNvPicPr>
            <a:picLocks noChangeAspect="1"/>
          </p:cNvPicPr>
          <p:nvPr/>
        </p:nvPicPr>
        <p:blipFill>
          <a:blip r:embed="rId3"/>
          <a:stretch>
            <a:fillRect/>
          </a:stretch>
        </p:blipFill>
        <p:spPr>
          <a:xfrm>
            <a:off x="649566" y="2328923"/>
            <a:ext cx="2200154" cy="2200154"/>
          </a:xfrm>
          <a:prstGeom prst="rect">
            <a:avLst/>
          </a:prstGeom>
        </p:spPr>
      </p:pic>
      <p:pic>
        <p:nvPicPr>
          <p:cNvPr id="6" name="Picture 5" descr="Graphical user interface, application, Word&#10;&#10;Description automatically generated">
            <a:extLst>
              <a:ext uri="{FF2B5EF4-FFF2-40B4-BE49-F238E27FC236}">
                <a16:creationId xmlns:a16="http://schemas.microsoft.com/office/drawing/2014/main" id="{B3F81FB7-9053-A5E9-4F28-81E82A454E4A}"/>
              </a:ext>
            </a:extLst>
          </p:cNvPr>
          <p:cNvPicPr>
            <a:picLocks noChangeAspect="1"/>
          </p:cNvPicPr>
          <p:nvPr/>
        </p:nvPicPr>
        <p:blipFill rotWithShape="1">
          <a:blip r:embed="rId4">
            <a:extLst>
              <a:ext uri="{28A0092B-C50C-407E-A947-70E740481C1C}">
                <a14:useLocalDpi xmlns:a14="http://schemas.microsoft.com/office/drawing/2010/main" val="0"/>
              </a:ext>
            </a:extLst>
          </a:blip>
          <a:srcRect l="35320" r="-2" b="17595"/>
          <a:stretch/>
        </p:blipFill>
        <p:spPr>
          <a:xfrm>
            <a:off x="4476149" y="1081393"/>
            <a:ext cx="6795701" cy="4848352"/>
          </a:xfrm>
          <a:prstGeom prst="rect">
            <a:avLst/>
          </a:prstGeom>
        </p:spPr>
      </p:pic>
    </p:spTree>
    <p:extLst>
      <p:ext uri="{BB962C8B-B14F-4D97-AF65-F5344CB8AC3E}">
        <p14:creationId xmlns:p14="http://schemas.microsoft.com/office/powerpoint/2010/main" val="447809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B0823BD-2B17-0133-D342-D599D3FD05F3}"/>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C7393286-9BF9-8E27-DE84-74046AA7A718}"/>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EC598282-B801-51D5-43E3-8A9A99622C4E}"/>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34</a:t>
            </a:fld>
            <a:endParaRPr lang="en-US"/>
          </a:p>
        </p:txBody>
      </p:sp>
      <p:pic>
        <p:nvPicPr>
          <p:cNvPr id="7" name="Picture 6" descr="Diagram&#10;&#10;Description automatically generated with medium confidence">
            <a:extLst>
              <a:ext uri="{FF2B5EF4-FFF2-40B4-BE49-F238E27FC236}">
                <a16:creationId xmlns:a16="http://schemas.microsoft.com/office/drawing/2014/main" id="{2C9FBAC7-63BE-F099-7564-C527A0A956DB}"/>
              </a:ext>
            </a:extLst>
          </p:cNvPr>
          <p:cNvPicPr>
            <a:picLocks noChangeAspect="1"/>
          </p:cNvPicPr>
          <p:nvPr/>
        </p:nvPicPr>
        <p:blipFill rotWithShape="1">
          <a:blip r:embed="rId3">
            <a:extLst>
              <a:ext uri="{28A0092B-C50C-407E-A947-70E740481C1C}">
                <a14:useLocalDpi xmlns:a14="http://schemas.microsoft.com/office/drawing/2010/main" val="0"/>
              </a:ext>
            </a:extLst>
          </a:blip>
          <a:srcRect r="-1" b="3882"/>
          <a:stretch/>
        </p:blipFill>
        <p:spPr>
          <a:xfrm>
            <a:off x="531379" y="425612"/>
            <a:ext cx="10506456" cy="5175504"/>
          </a:xfrm>
          <a:prstGeom prst="rect">
            <a:avLst/>
          </a:prstGeom>
        </p:spPr>
      </p:pic>
    </p:spTree>
    <p:extLst>
      <p:ext uri="{BB962C8B-B14F-4D97-AF65-F5344CB8AC3E}">
        <p14:creationId xmlns:p14="http://schemas.microsoft.com/office/powerpoint/2010/main" val="253844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2717FBEC-2F08-6603-6343-D4854FF1C517}"/>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EB0BF108-9E5A-9B9C-CC23-902BA5EA8216}"/>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698FFF24-5023-F4FF-2A40-8F8C552DFA96}"/>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35</a:t>
            </a:fld>
            <a:endParaRPr lang="en-US"/>
          </a:p>
        </p:txBody>
      </p:sp>
      <p:pic>
        <p:nvPicPr>
          <p:cNvPr id="3" name="Picture 2" descr="A close-up of a document&#10;&#10;Description automatically generated">
            <a:extLst>
              <a:ext uri="{FF2B5EF4-FFF2-40B4-BE49-F238E27FC236}">
                <a16:creationId xmlns:a16="http://schemas.microsoft.com/office/drawing/2014/main" id="{C20A6335-9F47-6C16-8366-2533F1BAE0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700" y="334138"/>
            <a:ext cx="10591800" cy="5676468"/>
          </a:xfrm>
          <a:prstGeom prst="rect">
            <a:avLst/>
          </a:prstGeom>
        </p:spPr>
      </p:pic>
    </p:spTree>
    <p:extLst>
      <p:ext uri="{BB962C8B-B14F-4D97-AF65-F5344CB8AC3E}">
        <p14:creationId xmlns:p14="http://schemas.microsoft.com/office/powerpoint/2010/main" val="540737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DAA122A9-8206-85F3-F5DF-B6677E64A12D}"/>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79ECD262-8B8B-673A-D987-304FC0F27B6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E71792D9-1A06-8F33-32F2-EEF03538D02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36</a:t>
            </a:fld>
            <a:endParaRPr lang="en-US"/>
          </a:p>
        </p:txBody>
      </p:sp>
      <p:sp>
        <p:nvSpPr>
          <p:cNvPr id="2" name="Title 2">
            <a:extLst>
              <a:ext uri="{FF2B5EF4-FFF2-40B4-BE49-F238E27FC236}">
                <a16:creationId xmlns:a16="http://schemas.microsoft.com/office/drawing/2014/main" id="{8B923927-3528-BE42-28E6-68860E1328FF}"/>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Document Based</a:t>
            </a:r>
          </a:p>
        </p:txBody>
      </p:sp>
      <p:pic>
        <p:nvPicPr>
          <p:cNvPr id="5" name="Picture 4">
            <a:extLst>
              <a:ext uri="{FF2B5EF4-FFF2-40B4-BE49-F238E27FC236}">
                <a16:creationId xmlns:a16="http://schemas.microsoft.com/office/drawing/2014/main" id="{6324AF02-75E3-A7AE-3ED7-C7B02B42D701}"/>
              </a:ext>
            </a:extLst>
          </p:cNvPr>
          <p:cNvPicPr>
            <a:picLocks noChangeAspect="1"/>
          </p:cNvPicPr>
          <p:nvPr/>
        </p:nvPicPr>
        <p:blipFill>
          <a:blip r:embed="rId3"/>
          <a:stretch>
            <a:fillRect/>
          </a:stretch>
        </p:blipFill>
        <p:spPr>
          <a:xfrm>
            <a:off x="649566" y="2328923"/>
            <a:ext cx="2200154" cy="2200154"/>
          </a:xfrm>
          <a:prstGeom prst="rect">
            <a:avLst/>
          </a:prstGeom>
        </p:spPr>
      </p:pic>
      <p:pic>
        <p:nvPicPr>
          <p:cNvPr id="3" name="Picture 2" descr="Graphical user interface, application&#10;&#10;Description automatically generated">
            <a:extLst>
              <a:ext uri="{FF2B5EF4-FFF2-40B4-BE49-F238E27FC236}">
                <a16:creationId xmlns:a16="http://schemas.microsoft.com/office/drawing/2014/main" id="{0F7DE3C7-BC62-6D6B-7D9E-6D14735C80EB}"/>
              </a:ext>
            </a:extLst>
          </p:cNvPr>
          <p:cNvPicPr>
            <a:picLocks noChangeAspect="1"/>
          </p:cNvPicPr>
          <p:nvPr/>
        </p:nvPicPr>
        <p:blipFill rotWithShape="1">
          <a:blip r:embed="rId4">
            <a:extLst>
              <a:ext uri="{28A0092B-C50C-407E-A947-70E740481C1C}">
                <a14:useLocalDpi xmlns:a14="http://schemas.microsoft.com/office/drawing/2010/main" val="0"/>
              </a:ext>
            </a:extLst>
          </a:blip>
          <a:srcRect l="35759" t="19967" r="-2" b="14612"/>
          <a:stretch/>
        </p:blipFill>
        <p:spPr>
          <a:xfrm>
            <a:off x="4202689" y="1783247"/>
            <a:ext cx="6749519" cy="3728802"/>
          </a:xfrm>
          <a:prstGeom prst="rect">
            <a:avLst/>
          </a:prstGeom>
        </p:spPr>
      </p:pic>
    </p:spTree>
    <p:extLst>
      <p:ext uri="{BB962C8B-B14F-4D97-AF65-F5344CB8AC3E}">
        <p14:creationId xmlns:p14="http://schemas.microsoft.com/office/powerpoint/2010/main" val="4227108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55EC305-F650-7654-0E87-AAC9F507136A}"/>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BEC85356-01A5-0F04-8B9B-1127DF7D8118}"/>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5495576F-5B6C-7B58-86CD-2395A69E7165}"/>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37</a:t>
            </a:fld>
            <a:endParaRPr lang="en-US"/>
          </a:p>
        </p:txBody>
      </p:sp>
      <p:sp>
        <p:nvSpPr>
          <p:cNvPr id="2" name="Title 2">
            <a:extLst>
              <a:ext uri="{FF2B5EF4-FFF2-40B4-BE49-F238E27FC236}">
                <a16:creationId xmlns:a16="http://schemas.microsoft.com/office/drawing/2014/main" id="{E53AF114-F30E-1969-A1E8-0AA36690AA47}"/>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Graph Based</a:t>
            </a:r>
          </a:p>
        </p:txBody>
      </p:sp>
      <p:pic>
        <p:nvPicPr>
          <p:cNvPr id="6" name="Picture 5">
            <a:extLst>
              <a:ext uri="{FF2B5EF4-FFF2-40B4-BE49-F238E27FC236}">
                <a16:creationId xmlns:a16="http://schemas.microsoft.com/office/drawing/2014/main" id="{3CE1394C-687C-B92B-A45E-3CD3987D9FF7}"/>
              </a:ext>
            </a:extLst>
          </p:cNvPr>
          <p:cNvPicPr>
            <a:picLocks noChangeAspect="1"/>
          </p:cNvPicPr>
          <p:nvPr/>
        </p:nvPicPr>
        <p:blipFill>
          <a:blip r:embed="rId3"/>
          <a:stretch>
            <a:fillRect/>
          </a:stretch>
        </p:blipFill>
        <p:spPr>
          <a:xfrm>
            <a:off x="895928" y="2259126"/>
            <a:ext cx="1826491" cy="1826491"/>
          </a:xfrm>
          <a:prstGeom prst="rect">
            <a:avLst/>
          </a:prstGeom>
        </p:spPr>
      </p:pic>
      <p:pic>
        <p:nvPicPr>
          <p:cNvPr id="7" name="Picture 6" descr="Diagram&#10;&#10;Description automatically generated with medium confidence">
            <a:extLst>
              <a:ext uri="{FF2B5EF4-FFF2-40B4-BE49-F238E27FC236}">
                <a16:creationId xmlns:a16="http://schemas.microsoft.com/office/drawing/2014/main" id="{C11CD2E4-BDC8-0A77-11E8-205F43ED4E88}"/>
              </a:ext>
            </a:extLst>
          </p:cNvPr>
          <p:cNvPicPr>
            <a:picLocks noChangeAspect="1"/>
          </p:cNvPicPr>
          <p:nvPr/>
        </p:nvPicPr>
        <p:blipFill rotWithShape="1">
          <a:blip r:embed="rId4">
            <a:extLst>
              <a:ext uri="{28A0092B-C50C-407E-A947-70E740481C1C}">
                <a14:useLocalDpi xmlns:a14="http://schemas.microsoft.com/office/drawing/2010/main" val="0"/>
              </a:ext>
            </a:extLst>
          </a:blip>
          <a:srcRect l="37606" r="13075" b="10435"/>
          <a:stretch/>
        </p:blipFill>
        <p:spPr>
          <a:xfrm>
            <a:off x="4262276" y="841248"/>
            <a:ext cx="5181600" cy="5175504"/>
          </a:xfrm>
          <a:prstGeom prst="rect">
            <a:avLst/>
          </a:prstGeom>
        </p:spPr>
      </p:pic>
    </p:spTree>
    <p:extLst>
      <p:ext uri="{BB962C8B-B14F-4D97-AF65-F5344CB8AC3E}">
        <p14:creationId xmlns:p14="http://schemas.microsoft.com/office/powerpoint/2010/main" val="1263733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478745E-F104-E603-E677-33F740A61FD4}"/>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7DE61AE1-B390-C39A-F2D5-E63D25225E4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A3AC511C-2A0E-75EC-9AD7-8026916F1EA7}"/>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38</a:t>
            </a:fld>
            <a:endParaRPr lang="en-US"/>
          </a:p>
        </p:txBody>
      </p:sp>
      <p:pic>
        <p:nvPicPr>
          <p:cNvPr id="5" name="Picture 4" descr="A diagram of a graph&#10;&#10;Description automatically generated">
            <a:extLst>
              <a:ext uri="{FF2B5EF4-FFF2-40B4-BE49-F238E27FC236}">
                <a16:creationId xmlns:a16="http://schemas.microsoft.com/office/drawing/2014/main" id="{ECD437E5-D86A-ACA0-63B2-28CCC49CB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573" y="438150"/>
            <a:ext cx="9004300" cy="5196032"/>
          </a:xfrm>
          <a:prstGeom prst="rect">
            <a:avLst/>
          </a:prstGeom>
        </p:spPr>
      </p:pic>
    </p:spTree>
    <p:extLst>
      <p:ext uri="{BB962C8B-B14F-4D97-AF65-F5344CB8AC3E}">
        <p14:creationId xmlns:p14="http://schemas.microsoft.com/office/powerpoint/2010/main" val="3417488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DD1036C1-A756-680A-8B28-076E60EED63E}"/>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D4768173-8A39-301B-F874-74F2EADDD204}"/>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669965C7-00E9-173A-EF09-2907384F0F9C}"/>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39</a:t>
            </a:fld>
            <a:endParaRPr lang="en-US"/>
          </a:p>
        </p:txBody>
      </p:sp>
      <p:pic>
        <p:nvPicPr>
          <p:cNvPr id="4" name="Picture 3" descr="A picture containing outdoor&#10;&#10;Description automatically generated">
            <a:extLst>
              <a:ext uri="{FF2B5EF4-FFF2-40B4-BE49-F238E27FC236}">
                <a16:creationId xmlns:a16="http://schemas.microsoft.com/office/drawing/2014/main" id="{E690BC1B-D6B4-150F-D105-396D8CC3D6B3}"/>
              </a:ext>
            </a:extLst>
          </p:cNvPr>
          <p:cNvPicPr>
            <a:picLocks noChangeAspect="1"/>
          </p:cNvPicPr>
          <p:nvPr/>
        </p:nvPicPr>
        <p:blipFill rotWithShape="1">
          <a:blip r:embed="rId3">
            <a:extLst>
              <a:ext uri="{28A0092B-C50C-407E-A947-70E740481C1C}">
                <a14:useLocalDpi xmlns:a14="http://schemas.microsoft.com/office/drawing/2010/main" val="0"/>
              </a:ext>
            </a:extLst>
          </a:blip>
          <a:srcRect t="12802" r="-1" b="16574"/>
          <a:stretch/>
        </p:blipFill>
        <p:spPr>
          <a:xfrm>
            <a:off x="531379" y="584620"/>
            <a:ext cx="10506456" cy="5175504"/>
          </a:xfrm>
          <a:prstGeom prst="rect">
            <a:avLst/>
          </a:prstGeom>
        </p:spPr>
      </p:pic>
    </p:spTree>
    <p:extLst>
      <p:ext uri="{BB962C8B-B14F-4D97-AF65-F5344CB8AC3E}">
        <p14:creationId xmlns:p14="http://schemas.microsoft.com/office/powerpoint/2010/main" val="3791741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7AD6B422-97C3-2A85-9159-B825D57A4C48}"/>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71F82797-E5BA-5B89-3AAF-1D7A4248E101}"/>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A7A67138-0C2F-A455-3269-7BC94215CEAC}"/>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40</a:t>
            </a:fld>
            <a:endParaRPr lang="en-US"/>
          </a:p>
        </p:txBody>
      </p:sp>
      <p:sp>
        <p:nvSpPr>
          <p:cNvPr id="2" name="Title 2">
            <a:extLst>
              <a:ext uri="{FF2B5EF4-FFF2-40B4-BE49-F238E27FC236}">
                <a16:creationId xmlns:a16="http://schemas.microsoft.com/office/drawing/2014/main" id="{1FD1C09F-7B55-5EAA-0982-743BB29BF10B}"/>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Graph Based</a:t>
            </a:r>
          </a:p>
        </p:txBody>
      </p:sp>
      <p:pic>
        <p:nvPicPr>
          <p:cNvPr id="6" name="Picture 5">
            <a:extLst>
              <a:ext uri="{FF2B5EF4-FFF2-40B4-BE49-F238E27FC236}">
                <a16:creationId xmlns:a16="http://schemas.microsoft.com/office/drawing/2014/main" id="{6B38B95A-D625-FFFF-2C8A-5332262D5796}"/>
              </a:ext>
            </a:extLst>
          </p:cNvPr>
          <p:cNvPicPr>
            <a:picLocks noChangeAspect="1"/>
          </p:cNvPicPr>
          <p:nvPr/>
        </p:nvPicPr>
        <p:blipFill>
          <a:blip r:embed="rId3"/>
          <a:stretch>
            <a:fillRect/>
          </a:stretch>
        </p:blipFill>
        <p:spPr>
          <a:xfrm>
            <a:off x="895928" y="2259126"/>
            <a:ext cx="1826491" cy="1826491"/>
          </a:xfrm>
          <a:prstGeom prst="rect">
            <a:avLst/>
          </a:prstGeom>
        </p:spPr>
      </p:pic>
      <p:pic>
        <p:nvPicPr>
          <p:cNvPr id="3" name="Picture 2" descr="Graphical user interface, application, Word&#10;&#10;Description automatically generated">
            <a:extLst>
              <a:ext uri="{FF2B5EF4-FFF2-40B4-BE49-F238E27FC236}">
                <a16:creationId xmlns:a16="http://schemas.microsoft.com/office/drawing/2014/main" id="{380985A6-757C-BB98-3A2E-1E0C97E9CD3C}"/>
              </a:ext>
            </a:extLst>
          </p:cNvPr>
          <p:cNvPicPr>
            <a:picLocks noChangeAspect="1"/>
          </p:cNvPicPr>
          <p:nvPr/>
        </p:nvPicPr>
        <p:blipFill rotWithShape="1">
          <a:blip r:embed="rId4">
            <a:extLst>
              <a:ext uri="{28A0092B-C50C-407E-A947-70E740481C1C}">
                <a14:useLocalDpi xmlns:a14="http://schemas.microsoft.com/office/drawing/2010/main" val="0"/>
              </a:ext>
            </a:extLst>
          </a:blip>
          <a:srcRect l="34880" r="-2" b="10841"/>
          <a:stretch/>
        </p:blipFill>
        <p:spPr>
          <a:xfrm>
            <a:off x="4137890" y="841248"/>
            <a:ext cx="6841883" cy="5175504"/>
          </a:xfrm>
          <a:prstGeom prst="rect">
            <a:avLst/>
          </a:prstGeom>
        </p:spPr>
      </p:pic>
    </p:spTree>
    <p:extLst>
      <p:ext uri="{BB962C8B-B14F-4D97-AF65-F5344CB8AC3E}">
        <p14:creationId xmlns:p14="http://schemas.microsoft.com/office/powerpoint/2010/main" val="4101279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7952F3A0-B259-D47B-54FD-57E49E738498}"/>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D9E97402-E333-3DD5-A1EF-812B4FCC6446}"/>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lang="en-US" dirty="0"/>
          </a:p>
        </p:txBody>
      </p:sp>
      <p:sp>
        <p:nvSpPr>
          <p:cNvPr id="239" name="Google Shape;239;p3">
            <a:extLst>
              <a:ext uri="{FF2B5EF4-FFF2-40B4-BE49-F238E27FC236}">
                <a16:creationId xmlns:a16="http://schemas.microsoft.com/office/drawing/2014/main" id="{E66F085C-4812-2D3F-CA9B-E9A11DF17EDE}"/>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41</a:t>
            </a:fld>
            <a:endParaRPr lang="en-US"/>
          </a:p>
        </p:txBody>
      </p:sp>
      <p:sp>
        <p:nvSpPr>
          <p:cNvPr id="2" name="Title 2">
            <a:extLst>
              <a:ext uri="{FF2B5EF4-FFF2-40B4-BE49-F238E27FC236}">
                <a16:creationId xmlns:a16="http://schemas.microsoft.com/office/drawing/2014/main" id="{F2C3F57F-881E-4DAA-07D6-C1FAD9642F42}"/>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Graph Based</a:t>
            </a:r>
          </a:p>
        </p:txBody>
      </p:sp>
      <p:pic>
        <p:nvPicPr>
          <p:cNvPr id="6" name="Picture 5">
            <a:extLst>
              <a:ext uri="{FF2B5EF4-FFF2-40B4-BE49-F238E27FC236}">
                <a16:creationId xmlns:a16="http://schemas.microsoft.com/office/drawing/2014/main" id="{51152171-44A2-B250-001C-0C9DDEE4F14F}"/>
              </a:ext>
            </a:extLst>
          </p:cNvPr>
          <p:cNvPicPr>
            <a:picLocks noChangeAspect="1"/>
          </p:cNvPicPr>
          <p:nvPr/>
        </p:nvPicPr>
        <p:blipFill>
          <a:blip r:embed="rId3"/>
          <a:stretch>
            <a:fillRect/>
          </a:stretch>
        </p:blipFill>
        <p:spPr>
          <a:xfrm>
            <a:off x="895928" y="2259126"/>
            <a:ext cx="1826491" cy="1826491"/>
          </a:xfrm>
          <a:prstGeom prst="rect">
            <a:avLst/>
          </a:prstGeom>
        </p:spPr>
      </p:pic>
      <p:pic>
        <p:nvPicPr>
          <p:cNvPr id="3" name="Picture 2" descr="Graphical user interface, application&#10;&#10;Description automatically generated">
            <a:extLst>
              <a:ext uri="{FF2B5EF4-FFF2-40B4-BE49-F238E27FC236}">
                <a16:creationId xmlns:a16="http://schemas.microsoft.com/office/drawing/2014/main" id="{229B1B44-6829-A7B4-9E71-FAB0B360FEB5}"/>
              </a:ext>
            </a:extLst>
          </p:cNvPr>
          <p:cNvPicPr>
            <a:picLocks noChangeAspect="1"/>
          </p:cNvPicPr>
          <p:nvPr/>
        </p:nvPicPr>
        <p:blipFill rotWithShape="1">
          <a:blip r:embed="rId4">
            <a:extLst>
              <a:ext uri="{28A0092B-C50C-407E-A947-70E740481C1C}">
                <a14:useLocalDpi xmlns:a14="http://schemas.microsoft.com/office/drawing/2010/main" val="0"/>
              </a:ext>
            </a:extLst>
          </a:blip>
          <a:srcRect l="38220" t="23607" r="6834" b="13167"/>
          <a:stretch/>
        </p:blipFill>
        <p:spPr>
          <a:xfrm>
            <a:off x="4581235" y="1722631"/>
            <a:ext cx="5772729" cy="3288147"/>
          </a:xfrm>
          <a:prstGeom prst="rect">
            <a:avLst/>
          </a:prstGeom>
        </p:spPr>
      </p:pic>
    </p:spTree>
    <p:extLst>
      <p:ext uri="{BB962C8B-B14F-4D97-AF65-F5344CB8AC3E}">
        <p14:creationId xmlns:p14="http://schemas.microsoft.com/office/powerpoint/2010/main" val="929174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54EE9E96-1ED5-6281-1205-2C8395465902}"/>
            </a:ext>
          </a:extLst>
        </p:cNvPr>
        <p:cNvGrpSpPr/>
        <p:nvPr/>
      </p:nvGrpSpPr>
      <p:grpSpPr>
        <a:xfrm>
          <a:off x="0" y="0"/>
          <a:ext cx="0" cy="0"/>
          <a:chOff x="0" y="0"/>
          <a:chExt cx="0" cy="0"/>
        </a:xfrm>
      </p:grpSpPr>
      <p:pic>
        <p:nvPicPr>
          <p:cNvPr id="214" name="Google Shape;214;p1" title="Building image">
            <a:extLst>
              <a:ext uri="{FF2B5EF4-FFF2-40B4-BE49-F238E27FC236}">
                <a16:creationId xmlns:a16="http://schemas.microsoft.com/office/drawing/2014/main" id="{B230BA13-50FD-7862-2800-028CF448922D}"/>
              </a:ext>
            </a:extLst>
          </p:cNvPr>
          <p:cNvPicPr preferRelativeResize="0">
            <a:picLocks noGrp="1"/>
          </p:cNvPicPr>
          <p:nvPr>
            <p:ph type="pic" idx="2"/>
          </p:nvPr>
        </p:nvPicPr>
        <p:blipFill rotWithShape="1">
          <a:blip r:embed="rId3">
            <a:alphaModFix/>
          </a:blip>
          <a:srcRect l="20784" r="20784"/>
          <a:stretch/>
        </p:blipFill>
        <p:spPr>
          <a:xfrm>
            <a:off x="1683398" y="860944"/>
            <a:ext cx="4428523" cy="5137089"/>
          </a:xfrm>
          <a:prstGeom prst="rect">
            <a:avLst/>
          </a:prstGeom>
          <a:noFill/>
          <a:ln>
            <a:noFill/>
          </a:ln>
        </p:spPr>
      </p:pic>
      <p:sp>
        <p:nvSpPr>
          <p:cNvPr id="215" name="Google Shape;215;p1" descr="Solid dark colored hexagon in the middle of image accent">
            <a:extLst>
              <a:ext uri="{FF2B5EF4-FFF2-40B4-BE49-F238E27FC236}">
                <a16:creationId xmlns:a16="http://schemas.microsoft.com/office/drawing/2014/main" id="{7F56B3C3-AC8D-7B04-6693-2A234CBB348B}"/>
              </a:ext>
            </a:extLst>
          </p:cNvPr>
          <p:cNvSpPr/>
          <p:nvPr/>
        </p:nvSpPr>
        <p:spPr>
          <a:xfrm rot="-5400000">
            <a:off x="2679702" y="2388914"/>
            <a:ext cx="2412998" cy="2080172"/>
          </a:xfrm>
          <a:prstGeom prst="hexagon">
            <a:avLst>
              <a:gd name="adj" fmla="val 25000"/>
              <a:gd name="vf" fmla="val 115470"/>
            </a:avLst>
          </a:prstGeom>
          <a:solidFill>
            <a:srgbClr val="0019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
            <a:extLst>
              <a:ext uri="{FF2B5EF4-FFF2-40B4-BE49-F238E27FC236}">
                <a16:creationId xmlns:a16="http://schemas.microsoft.com/office/drawing/2014/main" id="{4BBC6D1E-836C-D884-CECA-37495DB78334}"/>
              </a:ext>
            </a:extLst>
          </p:cNvPr>
          <p:cNvSpPr txBox="1"/>
          <p:nvPr/>
        </p:nvSpPr>
        <p:spPr>
          <a:xfrm>
            <a:off x="3056723" y="2921167"/>
            <a:ext cx="168187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0" u="none" strike="noStrike" cap="none">
                <a:solidFill>
                  <a:schemeClr val="lt1"/>
                </a:solidFill>
                <a:latin typeface="Arial Black"/>
                <a:ea typeface="Arial Black"/>
                <a:cs typeface="Arial Black"/>
                <a:sym typeface="Arial Black"/>
              </a:rPr>
              <a:t>NTI</a:t>
            </a:r>
            <a:endParaRPr/>
          </a:p>
        </p:txBody>
      </p:sp>
      <p:sp>
        <p:nvSpPr>
          <p:cNvPr id="217" name="Google Shape;217;p1">
            <a:extLst>
              <a:ext uri="{FF2B5EF4-FFF2-40B4-BE49-F238E27FC236}">
                <a16:creationId xmlns:a16="http://schemas.microsoft.com/office/drawing/2014/main" id="{ABDE2133-EA97-7E21-DA65-2BA27C495970}"/>
              </a:ext>
            </a:extLst>
          </p:cNvPr>
          <p:cNvSpPr txBox="1">
            <a:spLocks noGrp="1"/>
          </p:cNvSpPr>
          <p:nvPr>
            <p:ph type="ctrTitle"/>
          </p:nvPr>
        </p:nvSpPr>
        <p:spPr>
          <a:xfrm>
            <a:off x="6375721" y="2006084"/>
            <a:ext cx="5437588" cy="1616252"/>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accent1"/>
              </a:buClr>
              <a:buSzPts val="4300"/>
              <a:buFont typeface="Calibri"/>
              <a:buNone/>
            </a:pPr>
            <a:r>
              <a:rPr lang="en-US" sz="5000" dirty="0"/>
              <a:t>Data Warehouse</a:t>
            </a:r>
            <a:endParaRPr sz="5000" dirty="0"/>
          </a:p>
        </p:txBody>
      </p:sp>
      <p:sp>
        <p:nvSpPr>
          <p:cNvPr id="218" name="Google Shape;218;p1">
            <a:extLst>
              <a:ext uri="{FF2B5EF4-FFF2-40B4-BE49-F238E27FC236}">
                <a16:creationId xmlns:a16="http://schemas.microsoft.com/office/drawing/2014/main" id="{C5317770-64C5-11A7-8C7E-754BD3CDFA89}"/>
              </a:ext>
            </a:extLst>
          </p:cNvPr>
          <p:cNvSpPr txBox="1">
            <a:spLocks noGrp="1"/>
          </p:cNvSpPr>
          <p:nvPr>
            <p:ph type="subTitle" idx="1"/>
          </p:nvPr>
        </p:nvSpPr>
        <p:spPr>
          <a:xfrm>
            <a:off x="6375214" y="3640998"/>
            <a:ext cx="4854339" cy="12575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400"/>
              <a:buNone/>
            </a:pPr>
            <a:r>
              <a:rPr lang="en-US"/>
              <a:t> </a:t>
            </a:r>
            <a:endParaRPr/>
          </a:p>
        </p:txBody>
      </p:sp>
      <p:sp>
        <p:nvSpPr>
          <p:cNvPr id="219" name="Google Shape;219;p1">
            <a:extLst>
              <a:ext uri="{FF2B5EF4-FFF2-40B4-BE49-F238E27FC236}">
                <a16:creationId xmlns:a16="http://schemas.microsoft.com/office/drawing/2014/main" id="{2C0572D9-D954-C279-C614-5622E7FA3930}"/>
              </a:ext>
            </a:extLst>
          </p:cNvPr>
          <p:cNvSpPr txBox="1"/>
          <p:nvPr/>
        </p:nvSpPr>
        <p:spPr>
          <a:xfrm>
            <a:off x="2808015" y="3828239"/>
            <a:ext cx="3021285" cy="5150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E7A40"/>
              </a:buClr>
              <a:buSzPts val="1400"/>
              <a:buFont typeface="Arial"/>
              <a:buNone/>
            </a:pPr>
            <a:r>
              <a:rPr lang="en-US" sz="1400" b="1" i="0" u="none">
                <a:solidFill>
                  <a:schemeClr val="lt1"/>
                </a:solidFill>
                <a:latin typeface="Jacques Francois Shadow"/>
                <a:ea typeface="Jacques Francois Shadow"/>
                <a:cs typeface="Jacques Francois Shadow"/>
                <a:sym typeface="Jacques Francois Shadow"/>
              </a:rPr>
              <a:t>Data Analysis</a:t>
            </a:r>
            <a:endParaRPr/>
          </a:p>
        </p:txBody>
      </p:sp>
      <p:pic>
        <p:nvPicPr>
          <p:cNvPr id="7" name="Picture 6">
            <a:extLst>
              <a:ext uri="{FF2B5EF4-FFF2-40B4-BE49-F238E27FC236}">
                <a16:creationId xmlns:a16="http://schemas.microsoft.com/office/drawing/2014/main" id="{436A1A39-B87D-9083-5870-36211DB6AE6D}"/>
              </a:ext>
            </a:extLst>
          </p:cNvPr>
          <p:cNvPicPr>
            <a:picLocks noChangeAspect="1"/>
          </p:cNvPicPr>
          <p:nvPr/>
        </p:nvPicPr>
        <p:blipFill>
          <a:blip r:embed="rId4"/>
          <a:stretch>
            <a:fillRect/>
          </a:stretch>
        </p:blipFill>
        <p:spPr>
          <a:xfrm>
            <a:off x="11150040" y="6355524"/>
            <a:ext cx="737680" cy="365792"/>
          </a:xfrm>
          <a:prstGeom prst="rect">
            <a:avLst/>
          </a:prstGeom>
        </p:spPr>
      </p:pic>
    </p:spTree>
    <p:extLst>
      <p:ext uri="{BB962C8B-B14F-4D97-AF65-F5344CB8AC3E}">
        <p14:creationId xmlns:p14="http://schemas.microsoft.com/office/powerpoint/2010/main" val="2541496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FEC896E-B220-1971-CEBA-426347A0A07E}"/>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0CA843CF-9962-FA9F-FB04-0DC5E1553D7D}"/>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D4A6C6F7-E15B-7A5A-1109-E9047502B1E6}"/>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43</a:t>
            </a:fld>
            <a:endParaRPr lang="en-US"/>
          </a:p>
        </p:txBody>
      </p:sp>
      <p:sp>
        <p:nvSpPr>
          <p:cNvPr id="2" name="Title 2">
            <a:extLst>
              <a:ext uri="{FF2B5EF4-FFF2-40B4-BE49-F238E27FC236}">
                <a16:creationId xmlns:a16="http://schemas.microsoft.com/office/drawing/2014/main" id="{BE8CB1DC-2155-3644-88BB-5812626D3BF5}"/>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Data Warehouses</a:t>
            </a:r>
          </a:p>
        </p:txBody>
      </p:sp>
      <p:pic>
        <p:nvPicPr>
          <p:cNvPr id="25602" name="Picture 2" descr="‪Unified Data Warehouse‬‏">
            <a:extLst>
              <a:ext uri="{FF2B5EF4-FFF2-40B4-BE49-F238E27FC236}">
                <a16:creationId xmlns:a16="http://schemas.microsoft.com/office/drawing/2014/main" id="{7A7F5586-700A-6867-93A7-F631768C5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7167" y="1939497"/>
            <a:ext cx="4929917" cy="38700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AE4352-2DA9-9DCA-2466-68F6520D39D5}"/>
              </a:ext>
            </a:extLst>
          </p:cNvPr>
          <p:cNvSpPr txBox="1"/>
          <p:nvPr/>
        </p:nvSpPr>
        <p:spPr>
          <a:xfrm>
            <a:off x="-38582" y="2023931"/>
            <a:ext cx="5733325" cy="3785652"/>
          </a:xfrm>
          <a:prstGeom prst="rect">
            <a:avLst/>
          </a:prstGeom>
          <a:noFill/>
        </p:spPr>
        <p:txBody>
          <a:bodyPr wrap="square">
            <a:spAutoFit/>
          </a:bodyPr>
          <a:lstStyle/>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Data warehouse is the location where we store the ready for analysis data coming from multiple operations systems in the organization. How does it be ready for analysis? using the ETL framework to transform the data from being raw data into being a ready for analysis data. Then we can push the specific data into reporting, analytics, or data mining services in the organization.</a:t>
            </a:r>
          </a:p>
        </p:txBody>
      </p:sp>
    </p:spTree>
    <p:extLst>
      <p:ext uri="{BB962C8B-B14F-4D97-AF65-F5344CB8AC3E}">
        <p14:creationId xmlns:p14="http://schemas.microsoft.com/office/powerpoint/2010/main" val="4224180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5644A536-44AA-0D17-888E-694298910A13}"/>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EF1AD1A9-5325-7497-6396-A989ED910C5C}"/>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AB818728-03FB-4354-4CD0-5040E74E79CD}"/>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44</a:t>
            </a:fld>
            <a:endParaRPr lang="en-US"/>
          </a:p>
        </p:txBody>
      </p:sp>
      <p:sp>
        <p:nvSpPr>
          <p:cNvPr id="2" name="Title 2">
            <a:extLst>
              <a:ext uri="{FF2B5EF4-FFF2-40B4-BE49-F238E27FC236}">
                <a16:creationId xmlns:a16="http://schemas.microsoft.com/office/drawing/2014/main" id="{BD20DFEB-0DAA-34D9-FF5E-FE210FDDF9C4}"/>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Data Marts</a:t>
            </a:r>
          </a:p>
        </p:txBody>
      </p:sp>
      <p:sp>
        <p:nvSpPr>
          <p:cNvPr id="5" name="TextBox 4">
            <a:extLst>
              <a:ext uri="{FF2B5EF4-FFF2-40B4-BE49-F238E27FC236}">
                <a16:creationId xmlns:a16="http://schemas.microsoft.com/office/drawing/2014/main" id="{8C1D6094-25AB-3AD8-5E7E-9EBA33073FA4}"/>
              </a:ext>
            </a:extLst>
          </p:cNvPr>
          <p:cNvSpPr txBox="1"/>
          <p:nvPr/>
        </p:nvSpPr>
        <p:spPr>
          <a:xfrm>
            <a:off x="362675" y="2171713"/>
            <a:ext cx="5733325" cy="3785652"/>
          </a:xfrm>
          <a:prstGeom prst="rect">
            <a:avLst/>
          </a:prstGeom>
          <a:noFill/>
        </p:spPr>
        <p:txBody>
          <a:bodyPr wrap="square">
            <a:spAutoFit/>
          </a:bodyPr>
          <a:lstStyle/>
          <a:p>
            <a:pPr marL="342900" indent="-342900">
              <a:buClr>
                <a:srgbClr val="EAB200"/>
              </a:buClr>
              <a:buFont typeface="Wingdings" panose="05000000000000000000" pitchFamily="2" charset="2"/>
              <a:buChar char="v"/>
            </a:pPr>
            <a:endParaRPr lang="en-US" sz="2400" dirty="0">
              <a:solidFill>
                <a:srgbClr val="002060"/>
              </a:solidFill>
              <a:latin typeface="Calibri" panose="020F0502020204030204" pitchFamily="34" charset="0"/>
              <a:cs typeface="Calibri" panose="020F0502020204030204" pitchFamily="34" charset="0"/>
            </a:endParaRPr>
          </a:p>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So, we should have a pool of data to store all types and formats of data as a transition phase, this pool called Data Lake. After collecting all the data in raw format we can use ETL framework to transform data into ready for analysis data and store it inside data marts and data warehouses. Then we can get ready for analysis data from both of them.</a:t>
            </a:r>
          </a:p>
        </p:txBody>
      </p:sp>
      <p:pic>
        <p:nvPicPr>
          <p:cNvPr id="43012" name="Picture 4" descr="‪The Data Lake Is A Design Pattern | by datakitchen.io | data-ops | Medium‬‏">
            <a:extLst>
              <a:ext uri="{FF2B5EF4-FFF2-40B4-BE49-F238E27FC236}">
                <a16:creationId xmlns:a16="http://schemas.microsoft.com/office/drawing/2014/main" id="{AA4A7006-EE51-0665-545F-B0FF0A741D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75" t="6448" r="6165" b="11590"/>
          <a:stretch/>
        </p:blipFill>
        <p:spPr bwMode="auto">
          <a:xfrm>
            <a:off x="6224040" y="2262910"/>
            <a:ext cx="5605285" cy="298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7572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1E500D04-E75A-93FB-E049-961EDE87F742}"/>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736351AD-257B-1073-3EC2-AEDC0CAC78F0}"/>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F048622A-05D7-684A-49A7-B98DA36E91B8}"/>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45</a:t>
            </a:fld>
            <a:endParaRPr lang="en-US"/>
          </a:p>
        </p:txBody>
      </p:sp>
      <p:sp>
        <p:nvSpPr>
          <p:cNvPr id="2" name="Title 2">
            <a:extLst>
              <a:ext uri="{FF2B5EF4-FFF2-40B4-BE49-F238E27FC236}">
                <a16:creationId xmlns:a16="http://schemas.microsoft.com/office/drawing/2014/main" id="{F1BE847C-B6DE-0737-0687-AD4CF40F7E1E}"/>
              </a:ext>
            </a:extLst>
          </p:cNvPr>
          <p:cNvSpPr>
            <a:spLocks noGrp="1"/>
          </p:cNvSpPr>
          <p:nvPr>
            <p:ph type="title"/>
          </p:nvPr>
        </p:nvSpPr>
        <p:spPr>
          <a:xfrm>
            <a:off x="531379" y="567448"/>
            <a:ext cx="480754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Data Lakes</a:t>
            </a:r>
          </a:p>
        </p:txBody>
      </p:sp>
      <p:sp>
        <p:nvSpPr>
          <p:cNvPr id="5" name="TextBox 4">
            <a:extLst>
              <a:ext uri="{FF2B5EF4-FFF2-40B4-BE49-F238E27FC236}">
                <a16:creationId xmlns:a16="http://schemas.microsoft.com/office/drawing/2014/main" id="{82AAB2D5-7595-1BFC-A273-84E80FA0DA80}"/>
              </a:ext>
            </a:extLst>
          </p:cNvPr>
          <p:cNvSpPr txBox="1"/>
          <p:nvPr/>
        </p:nvSpPr>
        <p:spPr>
          <a:xfrm>
            <a:off x="362675" y="2171713"/>
            <a:ext cx="5733325" cy="2308324"/>
          </a:xfrm>
          <a:prstGeom prst="rect">
            <a:avLst/>
          </a:prstGeom>
          <a:noFill/>
        </p:spPr>
        <p:txBody>
          <a:bodyPr wrap="square">
            <a:spAutoFit/>
          </a:bodyPr>
          <a:lstStyle/>
          <a:p>
            <a:pPr marL="342900" indent="-342900">
              <a:buClr>
                <a:srgbClr val="EAB200"/>
              </a:buClr>
              <a:buFont typeface="Wingdings" panose="05000000000000000000" pitchFamily="2" charset="2"/>
              <a:buChar char="v"/>
            </a:pPr>
            <a:endParaRPr lang="en-US" sz="2400" dirty="0">
              <a:solidFill>
                <a:srgbClr val="002060"/>
              </a:solidFill>
              <a:latin typeface="Calibri" panose="020F0502020204030204" pitchFamily="34" charset="0"/>
              <a:cs typeface="Calibri" panose="020F0502020204030204" pitchFamily="34" charset="0"/>
            </a:endParaRPr>
          </a:p>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Data Mart is a magic, we can use it for security and performance isolation. We can dedicate a mart for sales team, for marketing team, for operations team, and so on.</a:t>
            </a:r>
          </a:p>
        </p:txBody>
      </p:sp>
      <p:pic>
        <p:nvPicPr>
          <p:cNvPr id="43010" name="Picture 2" descr="‪Why do we need Data Mart?. Data Mart improves user response time… | by  Erdem YAZAN | Medium‬‏">
            <a:extLst>
              <a:ext uri="{FF2B5EF4-FFF2-40B4-BE49-F238E27FC236}">
                <a16:creationId xmlns:a16="http://schemas.microsoft.com/office/drawing/2014/main" id="{EA0E99B8-B720-3DDB-1304-AB1FAD6AF0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0116" y="2435259"/>
            <a:ext cx="5616968" cy="2962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5384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a:extLst>
              <a:ext uri="{FF2B5EF4-FFF2-40B4-BE49-F238E27FC236}">
                <a16:creationId xmlns:a16="http://schemas.microsoft.com/office/drawing/2014/main" id="{C763A4A7-6535-ABD0-9687-2D451D383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597" y="167799"/>
            <a:ext cx="8152807" cy="6126480"/>
          </a:xfrm>
          <a:prstGeom prst="rect">
            <a:avLst/>
          </a:prstGeom>
        </p:spPr>
      </p:pic>
      <p:sp>
        <p:nvSpPr>
          <p:cNvPr id="2" name="Google Shape;239;p3">
            <a:extLst>
              <a:ext uri="{FF2B5EF4-FFF2-40B4-BE49-F238E27FC236}">
                <a16:creationId xmlns:a16="http://schemas.microsoft.com/office/drawing/2014/main" id="{7403AACB-8EF6-DB3E-FFC6-618F306258A3}"/>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46</a:t>
            </a:fld>
            <a:endParaRPr lang="en-US" dirty="0"/>
          </a:p>
        </p:txBody>
      </p:sp>
    </p:spTree>
    <p:extLst>
      <p:ext uri="{BB962C8B-B14F-4D97-AF65-F5344CB8AC3E}">
        <p14:creationId xmlns:p14="http://schemas.microsoft.com/office/powerpoint/2010/main" val="1260764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1"/>
          <p:cNvSpPr txBox="1">
            <a:spLocks noGrp="1"/>
          </p:cNvSpPr>
          <p:nvPr>
            <p:ph type="body" idx="2"/>
          </p:nvPr>
        </p:nvSpPr>
        <p:spPr>
          <a:xfrm>
            <a:off x="531379" y="2563477"/>
            <a:ext cx="734263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a:t> </a:t>
            </a:r>
            <a:endParaRPr/>
          </a:p>
        </p:txBody>
      </p:sp>
      <p:sp>
        <p:nvSpPr>
          <p:cNvPr id="405" name="Google Shape;405;p21"/>
          <p:cNvSpPr txBox="1">
            <a:spLocks noGrp="1"/>
          </p:cNvSpPr>
          <p:nvPr>
            <p:ph type="ftr" idx="11"/>
          </p:nvPr>
        </p:nvSpPr>
        <p:spPr>
          <a:xfrm>
            <a:off x="338530" y="6356350"/>
            <a:ext cx="41148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Add a footer</a:t>
            </a:r>
            <a:endParaRPr/>
          </a:p>
        </p:txBody>
      </p:sp>
      <p:sp>
        <p:nvSpPr>
          <p:cNvPr id="406" name="Google Shape;406;p21"/>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pic>
        <p:nvPicPr>
          <p:cNvPr id="407" name="Google Shape;407;p21" descr="Data lake là gì? So sánh Data lake với Data warehouse"/>
          <p:cNvPicPr preferRelativeResize="0"/>
          <p:nvPr/>
        </p:nvPicPr>
        <p:blipFill rotWithShape="1">
          <a:blip r:embed="rId3">
            <a:alphaModFix/>
          </a:blip>
          <a:srcRect/>
          <a:stretch/>
        </p:blipFill>
        <p:spPr>
          <a:xfrm>
            <a:off x="0" y="-3048"/>
            <a:ext cx="12192000" cy="6864095"/>
          </a:xfrm>
          <a:prstGeom prst="rect">
            <a:avLst/>
          </a:prstGeom>
          <a:noFill/>
          <a:ln>
            <a:noFill/>
          </a:ln>
        </p:spPr>
      </p:pic>
      <p:sp>
        <p:nvSpPr>
          <p:cNvPr id="2" name="Google Shape;239;p3">
            <a:extLst>
              <a:ext uri="{FF2B5EF4-FFF2-40B4-BE49-F238E27FC236}">
                <a16:creationId xmlns:a16="http://schemas.microsoft.com/office/drawing/2014/main" id="{4D676F49-0972-AF71-8CFF-9A8293F77202}"/>
              </a:ext>
            </a:extLst>
          </p:cNvPr>
          <p:cNvSpPr txBox="1">
            <a:spLocks/>
          </p:cNvSpPr>
          <p:nvPr/>
        </p:nvSpPr>
        <p:spPr>
          <a:xfrm>
            <a:off x="11299371" y="6508750"/>
            <a:ext cx="740227"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800" kern="1200">
                <a:solidFill>
                  <a:srgbClr val="FFFFFF"/>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fld id="{00000000-1234-1234-1234-123412341234}" type="slidenum">
              <a:rPr lang="en-US" smtClean="0">
                <a:solidFill>
                  <a:schemeClr val="tx1"/>
                </a:solidFill>
              </a:rPr>
              <a:pPr/>
              <a:t>47</a:t>
            </a:fld>
            <a:endParaRPr lang="en-US"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8CB407C1-7E76-A246-6DE4-D3395D4955DD}"/>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F61B4C60-F4FC-D1AD-6A6E-1D6D76148D77}"/>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7015B9F7-CBE2-2797-BE77-C0018B1E1F30}"/>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48</a:t>
            </a:fld>
            <a:endParaRPr lang="en-US"/>
          </a:p>
        </p:txBody>
      </p:sp>
      <p:sp>
        <p:nvSpPr>
          <p:cNvPr id="2" name="Title 2">
            <a:extLst>
              <a:ext uri="{FF2B5EF4-FFF2-40B4-BE49-F238E27FC236}">
                <a16:creationId xmlns:a16="http://schemas.microsoft.com/office/drawing/2014/main" id="{AA47D689-293D-2144-2E39-B97554CB6872}"/>
              </a:ext>
            </a:extLst>
          </p:cNvPr>
          <p:cNvSpPr>
            <a:spLocks noGrp="1"/>
          </p:cNvSpPr>
          <p:nvPr>
            <p:ph type="title"/>
          </p:nvPr>
        </p:nvSpPr>
        <p:spPr>
          <a:xfrm>
            <a:off x="0" y="567448"/>
            <a:ext cx="520961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Extract, Transform, </a:t>
            </a:r>
            <a:br>
              <a:rPr lang="en-US" sz="4000" dirty="0">
                <a:solidFill>
                  <a:srgbClr val="002060"/>
                </a:solidFill>
                <a:latin typeface="Calibri" panose="020F0502020204030204" pitchFamily="34" charset="0"/>
                <a:cs typeface="Calibri" panose="020F0502020204030204" pitchFamily="34" charset="0"/>
              </a:rPr>
            </a:br>
            <a:r>
              <a:rPr lang="en-US" sz="4000" dirty="0">
                <a:solidFill>
                  <a:srgbClr val="002060"/>
                </a:solidFill>
                <a:latin typeface="Calibri" panose="020F0502020204030204" pitchFamily="34" charset="0"/>
                <a:cs typeface="Calibri" panose="020F0502020204030204" pitchFamily="34" charset="0"/>
              </a:rPr>
              <a:t>and Load  (ETL) Process</a:t>
            </a:r>
          </a:p>
        </p:txBody>
      </p:sp>
      <p:sp>
        <p:nvSpPr>
          <p:cNvPr id="4" name="TextBox 3">
            <a:extLst>
              <a:ext uri="{FF2B5EF4-FFF2-40B4-BE49-F238E27FC236}">
                <a16:creationId xmlns:a16="http://schemas.microsoft.com/office/drawing/2014/main" id="{7DDFA41A-9B4C-C79F-0BEA-700A574A32A0}"/>
              </a:ext>
            </a:extLst>
          </p:cNvPr>
          <p:cNvSpPr txBox="1"/>
          <p:nvPr/>
        </p:nvSpPr>
        <p:spPr>
          <a:xfrm>
            <a:off x="184727" y="4084922"/>
            <a:ext cx="12007273" cy="2308324"/>
          </a:xfrm>
          <a:prstGeom prst="rect">
            <a:avLst/>
          </a:prstGeom>
          <a:noFill/>
        </p:spPr>
        <p:txBody>
          <a:bodyPr wrap="square">
            <a:spAutoFit/>
          </a:bodyPr>
          <a:lstStyle/>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So, the heart of the whole process of data engineering is the ETL process, where we extract data from multiple sources on the raw data format and direct it automatically to staging area - Data Lakes - where the system allocates a unique identifier and metadata for each data entrance. The extraction can be both batch processing or stream processing. In the batch processing we automate the process to move a chunk of data from multiple sources into the data lakes. The most famous tools for such process is "BLENDO" and "STITCH".</a:t>
            </a:r>
          </a:p>
        </p:txBody>
      </p:sp>
      <p:pic>
        <p:nvPicPr>
          <p:cNvPr id="5" name="Picture 4">
            <a:extLst>
              <a:ext uri="{FF2B5EF4-FFF2-40B4-BE49-F238E27FC236}">
                <a16:creationId xmlns:a16="http://schemas.microsoft.com/office/drawing/2014/main" id="{DC13FB72-71D0-921D-B426-83B23E30E5CB}"/>
              </a:ext>
            </a:extLst>
          </p:cNvPr>
          <p:cNvPicPr>
            <a:picLocks noChangeAspect="1"/>
          </p:cNvPicPr>
          <p:nvPr/>
        </p:nvPicPr>
        <p:blipFill>
          <a:blip r:embed="rId3"/>
          <a:srcRect l="3157" t="16479" r="3093" b="29273"/>
          <a:stretch/>
        </p:blipFill>
        <p:spPr>
          <a:xfrm>
            <a:off x="2032000" y="1939636"/>
            <a:ext cx="7185892" cy="2145286"/>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FAE1AF0-2026-C92A-CC53-D152BEDFC404}"/>
                  </a:ext>
                </a:extLst>
              </p14:cNvPr>
              <p14:cNvContentPartPr/>
              <p14:nvPr/>
            </p14:nvContentPartPr>
            <p14:xfrm>
              <a:off x="5300321" y="2661681"/>
              <a:ext cx="360720" cy="53280"/>
            </p14:xfrm>
          </p:contentPart>
        </mc:Choice>
        <mc:Fallback xmlns="">
          <p:pic>
            <p:nvPicPr>
              <p:cNvPr id="6" name="Ink 5">
                <a:extLst>
                  <a:ext uri="{FF2B5EF4-FFF2-40B4-BE49-F238E27FC236}">
                    <a16:creationId xmlns:a16="http://schemas.microsoft.com/office/drawing/2014/main" id="{5FAE1AF0-2026-C92A-CC53-D152BEDFC404}"/>
                  </a:ext>
                </a:extLst>
              </p:cNvPr>
              <p:cNvPicPr/>
              <p:nvPr/>
            </p:nvPicPr>
            <p:blipFill>
              <a:blip r:embed="rId5"/>
              <a:stretch>
                <a:fillRect/>
              </a:stretch>
            </p:blipFill>
            <p:spPr>
              <a:xfrm>
                <a:off x="5237681" y="2599041"/>
                <a:ext cx="486360" cy="178920"/>
              </a:xfrm>
              <a:prstGeom prst="rect">
                <a:avLst/>
              </a:prstGeom>
            </p:spPr>
          </p:pic>
        </mc:Fallback>
      </mc:AlternateContent>
      <p:sp>
        <p:nvSpPr>
          <p:cNvPr id="7" name="TextBox 6">
            <a:extLst>
              <a:ext uri="{FF2B5EF4-FFF2-40B4-BE49-F238E27FC236}">
                <a16:creationId xmlns:a16="http://schemas.microsoft.com/office/drawing/2014/main" id="{CB7D97EE-037D-6DB1-FDD7-CDBC134B4AE1}"/>
              </a:ext>
            </a:extLst>
          </p:cNvPr>
          <p:cNvSpPr txBox="1"/>
          <p:nvPr/>
        </p:nvSpPr>
        <p:spPr>
          <a:xfrm>
            <a:off x="5249776" y="2575051"/>
            <a:ext cx="600934" cy="276999"/>
          </a:xfrm>
          <a:prstGeom prst="rect">
            <a:avLst/>
          </a:prstGeom>
          <a:noFill/>
        </p:spPr>
        <p:txBody>
          <a:bodyPr wrap="none" rtlCol="0">
            <a:spAutoFit/>
          </a:bodyPr>
          <a:lstStyle/>
          <a:p>
            <a:r>
              <a:rPr lang="en-US" sz="1200" dirty="0">
                <a:solidFill>
                  <a:schemeClr val="bg1"/>
                </a:solidFill>
              </a:rPr>
              <a:t>Batch</a:t>
            </a:r>
          </a:p>
        </p:txBody>
      </p:sp>
    </p:spTree>
    <p:extLst>
      <p:ext uri="{BB962C8B-B14F-4D97-AF65-F5344CB8AC3E}">
        <p14:creationId xmlns:p14="http://schemas.microsoft.com/office/powerpoint/2010/main" val="9645527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E0554EB3-002D-0C58-E5BF-578DE6730E03}"/>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8E5B99F2-E0C1-47A7-8C22-957EFC5C1B41}"/>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0D1AA804-1292-2761-C3F1-EC3D4F5BE38F}"/>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49</a:t>
            </a:fld>
            <a:endParaRPr lang="en-US"/>
          </a:p>
        </p:txBody>
      </p:sp>
      <p:sp>
        <p:nvSpPr>
          <p:cNvPr id="2" name="Title 2">
            <a:extLst>
              <a:ext uri="{FF2B5EF4-FFF2-40B4-BE49-F238E27FC236}">
                <a16:creationId xmlns:a16="http://schemas.microsoft.com/office/drawing/2014/main" id="{0ABBB52C-788E-999F-1745-2B85A9977390}"/>
              </a:ext>
            </a:extLst>
          </p:cNvPr>
          <p:cNvSpPr>
            <a:spLocks noGrp="1"/>
          </p:cNvSpPr>
          <p:nvPr>
            <p:ph type="title"/>
          </p:nvPr>
        </p:nvSpPr>
        <p:spPr>
          <a:xfrm>
            <a:off x="0" y="567448"/>
            <a:ext cx="520961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Extract, Transform, </a:t>
            </a:r>
            <a:br>
              <a:rPr lang="en-US" sz="4000" dirty="0">
                <a:solidFill>
                  <a:srgbClr val="002060"/>
                </a:solidFill>
                <a:latin typeface="Calibri" panose="020F0502020204030204" pitchFamily="34" charset="0"/>
                <a:cs typeface="Calibri" panose="020F0502020204030204" pitchFamily="34" charset="0"/>
              </a:rPr>
            </a:br>
            <a:r>
              <a:rPr lang="en-US" sz="4000" dirty="0">
                <a:solidFill>
                  <a:srgbClr val="002060"/>
                </a:solidFill>
                <a:latin typeface="Calibri" panose="020F0502020204030204" pitchFamily="34" charset="0"/>
                <a:cs typeface="Calibri" panose="020F0502020204030204" pitchFamily="34" charset="0"/>
              </a:rPr>
              <a:t>and Load  (ETL) Process</a:t>
            </a:r>
          </a:p>
        </p:txBody>
      </p:sp>
      <p:sp>
        <p:nvSpPr>
          <p:cNvPr id="4" name="TextBox 3">
            <a:extLst>
              <a:ext uri="{FF2B5EF4-FFF2-40B4-BE49-F238E27FC236}">
                <a16:creationId xmlns:a16="http://schemas.microsoft.com/office/drawing/2014/main" id="{83F6BF71-AA95-A3DF-70C1-20F91F5C63D5}"/>
              </a:ext>
            </a:extLst>
          </p:cNvPr>
          <p:cNvSpPr txBox="1"/>
          <p:nvPr/>
        </p:nvSpPr>
        <p:spPr>
          <a:xfrm>
            <a:off x="0" y="4732578"/>
            <a:ext cx="12007273" cy="1569660"/>
          </a:xfrm>
          <a:prstGeom prst="rect">
            <a:avLst/>
          </a:prstGeom>
          <a:noFill/>
        </p:spPr>
        <p:txBody>
          <a:bodyPr wrap="square">
            <a:spAutoFit/>
          </a:bodyPr>
          <a:lstStyle/>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The second type of extracting data is the stream processing, where we automate the process of extraction to be online streaming from the multiple sources into the data lakes. While pushing the data from the multiple sources the processing is happening online and then the data loaded into the data repositories.</a:t>
            </a:r>
          </a:p>
        </p:txBody>
      </p:sp>
      <p:pic>
        <p:nvPicPr>
          <p:cNvPr id="3" name="Picture 2">
            <a:extLst>
              <a:ext uri="{FF2B5EF4-FFF2-40B4-BE49-F238E27FC236}">
                <a16:creationId xmlns:a16="http://schemas.microsoft.com/office/drawing/2014/main" id="{FB397DE4-4EBB-5772-3AF8-670C80536294}"/>
              </a:ext>
            </a:extLst>
          </p:cNvPr>
          <p:cNvPicPr>
            <a:picLocks noChangeAspect="1"/>
          </p:cNvPicPr>
          <p:nvPr/>
        </p:nvPicPr>
        <p:blipFill>
          <a:blip r:embed="rId3"/>
          <a:srcRect l="3602" t="18128" r="3542" b="21943"/>
          <a:stretch/>
        </p:blipFill>
        <p:spPr>
          <a:xfrm>
            <a:off x="2225965" y="1976582"/>
            <a:ext cx="7740072" cy="2604654"/>
          </a:xfrm>
          <a:prstGeom prst="rect">
            <a:avLst/>
          </a:prstGeom>
        </p:spPr>
      </p:pic>
    </p:spTree>
    <p:extLst>
      <p:ext uri="{BB962C8B-B14F-4D97-AF65-F5344CB8AC3E}">
        <p14:creationId xmlns:p14="http://schemas.microsoft.com/office/powerpoint/2010/main" val="27791238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E6D0DAA1-5FFB-AC1B-9F99-CD872B09C441}"/>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838FBA21-B8E4-829B-DC25-62B4D253C10E}"/>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1EE1D2EC-E0EE-7ACA-27A5-406374FCAA0A}"/>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50</a:t>
            </a:fld>
            <a:endParaRPr lang="en-US"/>
          </a:p>
        </p:txBody>
      </p:sp>
      <p:sp>
        <p:nvSpPr>
          <p:cNvPr id="2" name="Title 2">
            <a:extLst>
              <a:ext uri="{FF2B5EF4-FFF2-40B4-BE49-F238E27FC236}">
                <a16:creationId xmlns:a16="http://schemas.microsoft.com/office/drawing/2014/main" id="{9CCEFB71-E3C2-017D-840F-D28F25CBFE29}"/>
              </a:ext>
            </a:extLst>
          </p:cNvPr>
          <p:cNvSpPr>
            <a:spLocks noGrp="1"/>
          </p:cNvSpPr>
          <p:nvPr>
            <p:ph type="title"/>
          </p:nvPr>
        </p:nvSpPr>
        <p:spPr>
          <a:xfrm>
            <a:off x="0" y="567448"/>
            <a:ext cx="520961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Extract, Transform, </a:t>
            </a:r>
            <a:br>
              <a:rPr lang="en-US" sz="4000" dirty="0">
                <a:solidFill>
                  <a:srgbClr val="002060"/>
                </a:solidFill>
                <a:latin typeface="Calibri" panose="020F0502020204030204" pitchFamily="34" charset="0"/>
                <a:cs typeface="Calibri" panose="020F0502020204030204" pitchFamily="34" charset="0"/>
              </a:rPr>
            </a:br>
            <a:r>
              <a:rPr lang="en-US" sz="4000" dirty="0">
                <a:solidFill>
                  <a:srgbClr val="002060"/>
                </a:solidFill>
                <a:latin typeface="Calibri" panose="020F0502020204030204" pitchFamily="34" charset="0"/>
                <a:cs typeface="Calibri" panose="020F0502020204030204" pitchFamily="34" charset="0"/>
              </a:rPr>
              <a:t>and Load  (ETL) Process</a:t>
            </a:r>
          </a:p>
        </p:txBody>
      </p:sp>
      <p:sp>
        <p:nvSpPr>
          <p:cNvPr id="4" name="TextBox 3">
            <a:extLst>
              <a:ext uri="{FF2B5EF4-FFF2-40B4-BE49-F238E27FC236}">
                <a16:creationId xmlns:a16="http://schemas.microsoft.com/office/drawing/2014/main" id="{1B1E9031-017E-301E-F8EF-F841B1B23BDD}"/>
              </a:ext>
            </a:extLst>
          </p:cNvPr>
          <p:cNvSpPr txBox="1"/>
          <p:nvPr/>
        </p:nvSpPr>
        <p:spPr>
          <a:xfrm>
            <a:off x="0" y="4351560"/>
            <a:ext cx="12007273" cy="1938992"/>
          </a:xfrm>
          <a:prstGeom prst="rect">
            <a:avLst/>
          </a:prstGeom>
          <a:noFill/>
        </p:spPr>
        <p:txBody>
          <a:bodyPr wrap="square">
            <a:spAutoFit/>
          </a:bodyPr>
          <a:lstStyle/>
          <a:p>
            <a:pPr marL="342900" indent="-342900">
              <a:buClr>
                <a:srgbClr val="EAB200"/>
              </a:buClr>
              <a:buFont typeface="Wingdings" panose="05000000000000000000" pitchFamily="2" charset="2"/>
              <a:buChar char="v"/>
            </a:pPr>
            <a:endParaRPr lang="en-US" sz="2400" dirty="0">
              <a:solidFill>
                <a:srgbClr val="002060"/>
              </a:solidFill>
              <a:latin typeface="Calibri" panose="020F0502020204030204" pitchFamily="34" charset="0"/>
              <a:cs typeface="Calibri" panose="020F0502020204030204" pitchFamily="34" charset="0"/>
            </a:endParaRPr>
          </a:p>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Transforming data from its raw form into the ready to analysis data and such process includes unifying the data formats such as the data and time stamps, removing duplicate data, filtering out the data that is not required, enriching data by splitting the first and last names, applying business rules and data validation.</a:t>
            </a:r>
          </a:p>
        </p:txBody>
      </p:sp>
      <p:pic>
        <p:nvPicPr>
          <p:cNvPr id="3" name="Picture 2">
            <a:extLst>
              <a:ext uri="{FF2B5EF4-FFF2-40B4-BE49-F238E27FC236}">
                <a16:creationId xmlns:a16="http://schemas.microsoft.com/office/drawing/2014/main" id="{D4FFC4CA-D929-50D0-9076-54E8B223EF0D}"/>
              </a:ext>
            </a:extLst>
          </p:cNvPr>
          <p:cNvPicPr>
            <a:picLocks noChangeAspect="1"/>
          </p:cNvPicPr>
          <p:nvPr/>
        </p:nvPicPr>
        <p:blipFill>
          <a:blip r:embed="rId3"/>
          <a:srcRect l="4011" t="20144" r="4746" b="21575"/>
          <a:stretch/>
        </p:blipFill>
        <p:spPr>
          <a:xfrm>
            <a:off x="2373745" y="1985818"/>
            <a:ext cx="7416800" cy="2567709"/>
          </a:xfrm>
          <a:prstGeom prst="rect">
            <a:avLst/>
          </a:prstGeom>
        </p:spPr>
      </p:pic>
    </p:spTree>
    <p:extLst>
      <p:ext uri="{BB962C8B-B14F-4D97-AF65-F5344CB8AC3E}">
        <p14:creationId xmlns:p14="http://schemas.microsoft.com/office/powerpoint/2010/main" val="2353551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3B1B1A1-14E0-513C-AAAC-9CD6228904DC}"/>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40212483-E581-B09F-DF48-F191C8EF3171}"/>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3F25DCDC-957E-3F18-EBAB-C33C175E56D9}"/>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51</a:t>
            </a:fld>
            <a:endParaRPr lang="en-US"/>
          </a:p>
        </p:txBody>
      </p:sp>
      <p:sp>
        <p:nvSpPr>
          <p:cNvPr id="2" name="Title 2">
            <a:extLst>
              <a:ext uri="{FF2B5EF4-FFF2-40B4-BE49-F238E27FC236}">
                <a16:creationId xmlns:a16="http://schemas.microsoft.com/office/drawing/2014/main" id="{B393CD33-9B67-43CD-E7F6-76EC0FF52D5A}"/>
              </a:ext>
            </a:extLst>
          </p:cNvPr>
          <p:cNvSpPr>
            <a:spLocks noGrp="1"/>
          </p:cNvSpPr>
          <p:nvPr>
            <p:ph type="title"/>
          </p:nvPr>
        </p:nvSpPr>
        <p:spPr>
          <a:xfrm>
            <a:off x="0" y="567448"/>
            <a:ext cx="520961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Extract, Transform, </a:t>
            </a:r>
            <a:br>
              <a:rPr lang="en-US" sz="4000" dirty="0">
                <a:solidFill>
                  <a:srgbClr val="002060"/>
                </a:solidFill>
                <a:latin typeface="Calibri" panose="020F0502020204030204" pitchFamily="34" charset="0"/>
                <a:cs typeface="Calibri" panose="020F0502020204030204" pitchFamily="34" charset="0"/>
              </a:rPr>
            </a:br>
            <a:r>
              <a:rPr lang="en-US" sz="4000" dirty="0">
                <a:solidFill>
                  <a:srgbClr val="002060"/>
                </a:solidFill>
                <a:latin typeface="Calibri" panose="020F0502020204030204" pitchFamily="34" charset="0"/>
                <a:cs typeface="Calibri" panose="020F0502020204030204" pitchFamily="34" charset="0"/>
              </a:rPr>
              <a:t>and Load  (ETL) Process</a:t>
            </a:r>
          </a:p>
        </p:txBody>
      </p:sp>
      <p:sp>
        <p:nvSpPr>
          <p:cNvPr id="4" name="TextBox 3">
            <a:extLst>
              <a:ext uri="{FF2B5EF4-FFF2-40B4-BE49-F238E27FC236}">
                <a16:creationId xmlns:a16="http://schemas.microsoft.com/office/drawing/2014/main" id="{79437A8D-6DED-4B3C-7759-64C19439B8CC}"/>
              </a:ext>
            </a:extLst>
          </p:cNvPr>
          <p:cNvSpPr txBox="1"/>
          <p:nvPr/>
        </p:nvSpPr>
        <p:spPr>
          <a:xfrm>
            <a:off x="-120075" y="3429000"/>
            <a:ext cx="12007273" cy="3046988"/>
          </a:xfrm>
          <a:prstGeom prst="rect">
            <a:avLst/>
          </a:prstGeom>
          <a:noFill/>
        </p:spPr>
        <p:txBody>
          <a:bodyPr wrap="square">
            <a:spAutoFit/>
          </a:bodyPr>
          <a:lstStyle/>
          <a:p>
            <a:pPr marL="342900" indent="-342900">
              <a:buClr>
                <a:srgbClr val="EAB200"/>
              </a:buClr>
              <a:buFont typeface="Wingdings" panose="05000000000000000000" pitchFamily="2" charset="2"/>
              <a:buChar char="v"/>
            </a:pPr>
            <a:endParaRPr lang="en-US" sz="2400" dirty="0">
              <a:solidFill>
                <a:srgbClr val="002060"/>
              </a:solidFill>
              <a:latin typeface="Calibri" panose="020F0502020204030204" pitchFamily="34" charset="0"/>
              <a:cs typeface="Calibri" panose="020F0502020204030204" pitchFamily="34" charset="0"/>
            </a:endParaRPr>
          </a:p>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The loading process is the final step in the ETL framework, in such phase we are loading the ready for analysis data into the data repository - database, data warehouse, and data mart - the loading process itself can be on three types: the first type is the initial loading where the automated process populates all the data in the repository. The second type is the incremental loading - where we update some of data tables by pushing some newly refreshed data. The third type is the full refresh where we fully erase a full table's data and push new data.</a:t>
            </a:r>
          </a:p>
        </p:txBody>
      </p:sp>
      <p:pic>
        <p:nvPicPr>
          <p:cNvPr id="3" name="Picture 2">
            <a:extLst>
              <a:ext uri="{FF2B5EF4-FFF2-40B4-BE49-F238E27FC236}">
                <a16:creationId xmlns:a16="http://schemas.microsoft.com/office/drawing/2014/main" id="{363D48F2-54FB-3044-2D31-C90A369BB870}"/>
              </a:ext>
            </a:extLst>
          </p:cNvPr>
          <p:cNvPicPr>
            <a:picLocks noChangeAspect="1"/>
          </p:cNvPicPr>
          <p:nvPr/>
        </p:nvPicPr>
        <p:blipFill>
          <a:blip r:embed="rId3"/>
          <a:srcRect l="5670" t="17394" r="3290" b="30006"/>
          <a:stretch/>
        </p:blipFill>
        <p:spPr>
          <a:xfrm>
            <a:off x="2752436" y="1995054"/>
            <a:ext cx="6899564" cy="1801091"/>
          </a:xfrm>
          <a:prstGeom prst="rect">
            <a:avLst/>
          </a:prstGeom>
        </p:spPr>
      </p:pic>
    </p:spTree>
    <p:extLst>
      <p:ext uri="{BB962C8B-B14F-4D97-AF65-F5344CB8AC3E}">
        <p14:creationId xmlns:p14="http://schemas.microsoft.com/office/powerpoint/2010/main" val="3945770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2ED19694-814B-E340-7B6D-0D3F716387C6}"/>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13F421DE-86EB-5B6E-9BA8-5703BCB408BD}"/>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BBB91318-72CB-FFA4-1A21-4CB434CC1233}"/>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52</a:t>
            </a:fld>
            <a:endParaRPr lang="en-US"/>
          </a:p>
        </p:txBody>
      </p:sp>
      <p:sp>
        <p:nvSpPr>
          <p:cNvPr id="2" name="Title 2">
            <a:extLst>
              <a:ext uri="{FF2B5EF4-FFF2-40B4-BE49-F238E27FC236}">
                <a16:creationId xmlns:a16="http://schemas.microsoft.com/office/drawing/2014/main" id="{7D2010B8-170D-7258-E733-D0ABD55AB0A7}"/>
              </a:ext>
            </a:extLst>
          </p:cNvPr>
          <p:cNvSpPr>
            <a:spLocks noGrp="1"/>
          </p:cNvSpPr>
          <p:nvPr>
            <p:ph type="title"/>
          </p:nvPr>
        </p:nvSpPr>
        <p:spPr>
          <a:xfrm>
            <a:off x="0" y="567448"/>
            <a:ext cx="520961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Extract, Transform, </a:t>
            </a:r>
            <a:br>
              <a:rPr lang="en-US" sz="4000" dirty="0">
                <a:solidFill>
                  <a:srgbClr val="002060"/>
                </a:solidFill>
                <a:latin typeface="Calibri" panose="020F0502020204030204" pitchFamily="34" charset="0"/>
                <a:cs typeface="Calibri" panose="020F0502020204030204" pitchFamily="34" charset="0"/>
              </a:rPr>
            </a:br>
            <a:r>
              <a:rPr lang="en-US" sz="4000" dirty="0">
                <a:solidFill>
                  <a:srgbClr val="002060"/>
                </a:solidFill>
                <a:latin typeface="Calibri" panose="020F0502020204030204" pitchFamily="34" charset="0"/>
                <a:cs typeface="Calibri" panose="020F0502020204030204" pitchFamily="34" charset="0"/>
              </a:rPr>
              <a:t>and Load  (ETL) Process</a:t>
            </a:r>
          </a:p>
        </p:txBody>
      </p:sp>
      <p:sp>
        <p:nvSpPr>
          <p:cNvPr id="4" name="TextBox 3">
            <a:extLst>
              <a:ext uri="{FF2B5EF4-FFF2-40B4-BE49-F238E27FC236}">
                <a16:creationId xmlns:a16="http://schemas.microsoft.com/office/drawing/2014/main" id="{388B9C28-AD3D-4C1C-87B8-6A153C81C8D5}"/>
              </a:ext>
            </a:extLst>
          </p:cNvPr>
          <p:cNvSpPr txBox="1"/>
          <p:nvPr/>
        </p:nvSpPr>
        <p:spPr>
          <a:xfrm>
            <a:off x="184727" y="4450047"/>
            <a:ext cx="12007273" cy="1569660"/>
          </a:xfrm>
          <a:prstGeom prst="rect">
            <a:avLst/>
          </a:prstGeom>
          <a:noFill/>
        </p:spPr>
        <p:txBody>
          <a:bodyPr wrap="square">
            <a:spAutoFit/>
          </a:bodyPr>
          <a:lstStyle/>
          <a:p>
            <a:pPr marL="342900" indent="-342900">
              <a:buClr>
                <a:schemeClr val="tx2"/>
              </a:buClr>
              <a:buFont typeface="Wingdings" panose="05000000000000000000" pitchFamily="2" charset="2"/>
              <a:buChar char="Ø"/>
            </a:pPr>
            <a:r>
              <a:rPr lang="en-US" sz="2400" dirty="0">
                <a:solidFill>
                  <a:srgbClr val="002060"/>
                </a:solidFill>
                <a:latin typeface="Calibri" panose="020F0502020204030204" pitchFamily="34" charset="0"/>
                <a:cs typeface="Calibri" panose="020F0502020204030204" pitchFamily="34" charset="0"/>
              </a:rPr>
              <a:t>The loading verification process is a vital process where the automated process makes the proper checks to ensure the efficiency of the loading process: The automated process checks for the missing or null values, checks for the server performance issues, and checks for the load failures if there are any.</a:t>
            </a:r>
          </a:p>
        </p:txBody>
      </p:sp>
      <p:pic>
        <p:nvPicPr>
          <p:cNvPr id="3" name="Picture 2">
            <a:extLst>
              <a:ext uri="{FF2B5EF4-FFF2-40B4-BE49-F238E27FC236}">
                <a16:creationId xmlns:a16="http://schemas.microsoft.com/office/drawing/2014/main" id="{E27244DD-397B-B79A-47E6-F1D502EE5050}"/>
              </a:ext>
            </a:extLst>
          </p:cNvPr>
          <p:cNvPicPr>
            <a:picLocks noChangeAspect="1"/>
          </p:cNvPicPr>
          <p:nvPr/>
        </p:nvPicPr>
        <p:blipFill>
          <a:blip r:embed="rId3"/>
          <a:srcRect l="3671" t="18312" r="4170" b="24141"/>
          <a:stretch/>
        </p:blipFill>
        <p:spPr>
          <a:xfrm>
            <a:off x="2304473" y="2059390"/>
            <a:ext cx="7583054" cy="2225964"/>
          </a:xfrm>
          <a:prstGeom prst="rect">
            <a:avLst/>
          </a:prstGeom>
        </p:spPr>
      </p:pic>
    </p:spTree>
    <p:extLst>
      <p:ext uri="{BB962C8B-B14F-4D97-AF65-F5344CB8AC3E}">
        <p14:creationId xmlns:p14="http://schemas.microsoft.com/office/powerpoint/2010/main" val="31923192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D2D72B15-E644-7141-B61B-10CFEEF3E68A}"/>
            </a:ext>
          </a:extLst>
        </p:cNvPr>
        <p:cNvGrpSpPr/>
        <p:nvPr/>
      </p:nvGrpSpPr>
      <p:grpSpPr>
        <a:xfrm>
          <a:off x="0" y="0"/>
          <a:ext cx="0" cy="0"/>
          <a:chOff x="0" y="0"/>
          <a:chExt cx="0" cy="0"/>
        </a:xfrm>
      </p:grpSpPr>
      <p:sp>
        <p:nvSpPr>
          <p:cNvPr id="235" name="Google Shape;235;p3">
            <a:extLst>
              <a:ext uri="{FF2B5EF4-FFF2-40B4-BE49-F238E27FC236}">
                <a16:creationId xmlns:a16="http://schemas.microsoft.com/office/drawing/2014/main" id="{E66F1BED-DDA9-D940-420D-969EAB9A3F57}"/>
              </a:ext>
            </a:extLst>
          </p:cNvPr>
          <p:cNvSpPr txBox="1">
            <a:spLocks noGrp="1"/>
          </p:cNvSpPr>
          <p:nvPr>
            <p:ph type="body" idx="3"/>
          </p:nvPr>
        </p:nvSpPr>
        <p:spPr>
          <a:xfrm>
            <a:off x="531379" y="2563477"/>
            <a:ext cx="734262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p>
        </p:txBody>
      </p:sp>
      <p:sp>
        <p:nvSpPr>
          <p:cNvPr id="239" name="Google Shape;239;p3">
            <a:extLst>
              <a:ext uri="{FF2B5EF4-FFF2-40B4-BE49-F238E27FC236}">
                <a16:creationId xmlns:a16="http://schemas.microsoft.com/office/drawing/2014/main" id="{2012D0FF-C8A3-8564-4A26-6ECDC780E6F4}"/>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53</a:t>
            </a:fld>
            <a:endParaRPr lang="en-US"/>
          </a:p>
        </p:txBody>
      </p:sp>
      <p:sp>
        <p:nvSpPr>
          <p:cNvPr id="2" name="Title 2">
            <a:extLst>
              <a:ext uri="{FF2B5EF4-FFF2-40B4-BE49-F238E27FC236}">
                <a16:creationId xmlns:a16="http://schemas.microsoft.com/office/drawing/2014/main" id="{4DD5BAE6-BFA1-5287-33E7-EA532853D20C}"/>
              </a:ext>
            </a:extLst>
          </p:cNvPr>
          <p:cNvSpPr>
            <a:spLocks noGrp="1"/>
          </p:cNvSpPr>
          <p:nvPr>
            <p:ph type="title"/>
          </p:nvPr>
        </p:nvSpPr>
        <p:spPr>
          <a:xfrm>
            <a:off x="0" y="567448"/>
            <a:ext cx="5209617" cy="1279775"/>
          </a:xfrm>
        </p:spPr>
        <p:txBody>
          <a:bodyPr>
            <a:noAutofit/>
          </a:bodyPr>
          <a:lstStyle/>
          <a:p>
            <a:pPr rtl="1">
              <a:buClr>
                <a:srgbClr val="EAB200"/>
              </a:buClr>
              <a:buSzPct val="100000"/>
            </a:pPr>
            <a:r>
              <a:rPr lang="en-US" sz="4000" dirty="0">
                <a:solidFill>
                  <a:srgbClr val="002060"/>
                </a:solidFill>
                <a:latin typeface="Calibri" panose="020F0502020204030204" pitchFamily="34" charset="0"/>
                <a:cs typeface="Calibri" panose="020F0502020204030204" pitchFamily="34" charset="0"/>
              </a:rPr>
              <a:t>Data Pipeline</a:t>
            </a:r>
          </a:p>
        </p:txBody>
      </p:sp>
      <p:sp>
        <p:nvSpPr>
          <p:cNvPr id="4" name="TextBox 3">
            <a:extLst>
              <a:ext uri="{FF2B5EF4-FFF2-40B4-BE49-F238E27FC236}">
                <a16:creationId xmlns:a16="http://schemas.microsoft.com/office/drawing/2014/main" id="{991F06C7-63FC-4FBE-5C22-EEF6CDDEF53F}"/>
              </a:ext>
            </a:extLst>
          </p:cNvPr>
          <p:cNvSpPr txBox="1"/>
          <p:nvPr/>
        </p:nvSpPr>
        <p:spPr>
          <a:xfrm>
            <a:off x="184727" y="1713762"/>
            <a:ext cx="5661891" cy="3785652"/>
          </a:xfrm>
          <a:prstGeom prst="rect">
            <a:avLst/>
          </a:prstGeom>
          <a:noFill/>
        </p:spPr>
        <p:txBody>
          <a:bodyPr wrap="square">
            <a:spAutoFit/>
          </a:bodyPr>
          <a:lstStyle/>
          <a:p>
            <a:pPr marL="342900" indent="-342900">
              <a:buClr>
                <a:srgbClr val="EAB200"/>
              </a:buClr>
              <a:buFont typeface="Wingdings" panose="05000000000000000000" pitchFamily="2" charset="2"/>
              <a:buChar char="v"/>
            </a:pPr>
            <a:endParaRPr lang="en-US" sz="2400" dirty="0">
              <a:solidFill>
                <a:srgbClr val="002060"/>
              </a:solidFill>
              <a:latin typeface="Calibri" panose="020F0502020204030204" pitchFamily="34" charset="0"/>
              <a:cs typeface="Calibri" panose="020F0502020204030204" pitchFamily="34" charset="0"/>
            </a:endParaRPr>
          </a:p>
          <a:p>
            <a:pPr>
              <a:buClr>
                <a:srgbClr val="EAB200"/>
              </a:buClr>
            </a:pPr>
            <a:r>
              <a:rPr lang="en-US" sz="2400" dirty="0">
                <a:solidFill>
                  <a:srgbClr val="002060"/>
                </a:solidFill>
                <a:latin typeface="Calibri" panose="020F0502020204030204" pitchFamily="34" charset="0"/>
                <a:cs typeface="Calibri" panose="020F0502020204030204" pitchFamily="34" charset="0"/>
              </a:rPr>
              <a:t>A Data Pipeline</a:t>
            </a:r>
          </a:p>
          <a:p>
            <a:pPr marL="342900" indent="-342900">
              <a:buClr>
                <a:schemeClr val="tx2"/>
              </a:buClr>
              <a:buFont typeface="Wingdings" panose="05000000000000000000" pitchFamily="2" charset="2"/>
              <a:buChar char="ü"/>
            </a:pPr>
            <a:r>
              <a:rPr lang="en-US" sz="2400" dirty="0">
                <a:solidFill>
                  <a:srgbClr val="002060"/>
                </a:solidFill>
                <a:latin typeface="Calibri" panose="020F0502020204030204" pitchFamily="34" charset="0"/>
                <a:cs typeface="Calibri" panose="020F0502020204030204" pitchFamily="34" charset="0"/>
              </a:rPr>
              <a:t>Can be used for both batch and streaming data</a:t>
            </a:r>
          </a:p>
          <a:p>
            <a:pPr marL="342900" indent="-342900">
              <a:buClr>
                <a:schemeClr val="tx2"/>
              </a:buClr>
              <a:buFont typeface="Wingdings" panose="05000000000000000000" pitchFamily="2" charset="2"/>
              <a:buChar char="ü"/>
            </a:pPr>
            <a:r>
              <a:rPr lang="en-US" sz="2400" dirty="0">
                <a:solidFill>
                  <a:srgbClr val="002060"/>
                </a:solidFill>
                <a:latin typeface="Calibri" panose="020F0502020204030204" pitchFamily="34" charset="0"/>
                <a:cs typeface="Calibri" panose="020F0502020204030204" pitchFamily="34" charset="0"/>
              </a:rPr>
              <a:t>Supports both long-running batch queries and smaller interactive queries</a:t>
            </a:r>
          </a:p>
          <a:p>
            <a:pPr marL="342900" indent="-342900">
              <a:buClr>
                <a:schemeClr val="tx2"/>
              </a:buClr>
              <a:buFont typeface="Wingdings" panose="05000000000000000000" pitchFamily="2" charset="2"/>
              <a:buChar char="ü"/>
            </a:pPr>
            <a:r>
              <a:rPr lang="en-US" sz="2400" dirty="0">
                <a:solidFill>
                  <a:srgbClr val="002060"/>
                </a:solidFill>
                <a:latin typeface="Calibri" panose="020F0502020204030204" pitchFamily="34" charset="0"/>
                <a:cs typeface="Calibri" panose="020F0502020204030204" pitchFamily="34" charset="0"/>
              </a:rPr>
              <a:t>Typically loads data into a data lake but can also load data into a variety of target destinations-including other applications and visualization tools</a:t>
            </a:r>
          </a:p>
        </p:txBody>
      </p:sp>
      <p:pic>
        <p:nvPicPr>
          <p:cNvPr id="45058" name="Picture 2" descr="‪Apache Beam - Wikipedia‬‏">
            <a:extLst>
              <a:ext uri="{FF2B5EF4-FFF2-40B4-BE49-F238E27FC236}">
                <a16:creationId xmlns:a16="http://schemas.microsoft.com/office/drawing/2014/main" id="{52D20590-E14A-6703-689E-B15AB3803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5920" y="1713762"/>
            <a:ext cx="3600450" cy="1266825"/>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descr="‪Dataflow for Data Processing in GCP : A Beginner's Guide | by Santosh Beora  | Medium‬‏">
            <a:extLst>
              <a:ext uri="{FF2B5EF4-FFF2-40B4-BE49-F238E27FC236}">
                <a16:creationId xmlns:a16="http://schemas.microsoft.com/office/drawing/2014/main" id="{EDC0334B-7FEE-3530-7AB3-4BAA409E01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5920" y="3069587"/>
            <a:ext cx="3600450" cy="1465468"/>
          </a:xfrm>
          <a:prstGeom prst="rect">
            <a:avLst/>
          </a:prstGeom>
          <a:noFill/>
          <a:extLst>
            <a:ext uri="{909E8E84-426E-40DD-AFC4-6F175D3DCCD1}">
              <a14:hiddenFill xmlns:a14="http://schemas.microsoft.com/office/drawing/2010/main">
                <a:solidFill>
                  <a:srgbClr val="FFFFFF"/>
                </a:solidFill>
              </a14:hiddenFill>
            </a:ext>
          </a:extLst>
        </p:spPr>
      </p:pic>
      <p:pic>
        <p:nvPicPr>
          <p:cNvPr id="45062" name="Picture 6" descr="‪Kafka: The Basics. At Vendavo, data synchronization among… | by Vendavo  Engineering Blog | Vendavo Engineering Blog‬‏">
            <a:extLst>
              <a:ext uri="{FF2B5EF4-FFF2-40B4-BE49-F238E27FC236}">
                <a16:creationId xmlns:a16="http://schemas.microsoft.com/office/drawing/2014/main" id="{9FCC6012-FC03-E13A-58B6-334C030B45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5919" y="4624055"/>
            <a:ext cx="3600449"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2047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6E6F03AA-8EF1-1FC0-78D5-DD1A4E950E13}"/>
            </a:ext>
          </a:extLst>
        </p:cNvPr>
        <p:cNvGrpSpPr/>
        <p:nvPr/>
      </p:nvGrpSpPr>
      <p:grpSpPr>
        <a:xfrm>
          <a:off x="0" y="0"/>
          <a:ext cx="0" cy="0"/>
          <a:chOff x="0" y="0"/>
          <a:chExt cx="0" cy="0"/>
        </a:xfrm>
      </p:grpSpPr>
      <p:pic>
        <p:nvPicPr>
          <p:cNvPr id="214" name="Google Shape;214;p1" title="Building image">
            <a:extLst>
              <a:ext uri="{FF2B5EF4-FFF2-40B4-BE49-F238E27FC236}">
                <a16:creationId xmlns:a16="http://schemas.microsoft.com/office/drawing/2014/main" id="{A68A329D-D151-19B0-BD54-7D28E0F5F8A3}"/>
              </a:ext>
            </a:extLst>
          </p:cNvPr>
          <p:cNvPicPr preferRelativeResize="0">
            <a:picLocks noGrp="1"/>
          </p:cNvPicPr>
          <p:nvPr>
            <p:ph type="pic" idx="2"/>
          </p:nvPr>
        </p:nvPicPr>
        <p:blipFill rotWithShape="1">
          <a:blip r:embed="rId3">
            <a:alphaModFix/>
          </a:blip>
          <a:srcRect l="20784" r="20784"/>
          <a:stretch/>
        </p:blipFill>
        <p:spPr>
          <a:xfrm>
            <a:off x="1683398" y="860944"/>
            <a:ext cx="4428523" cy="5137089"/>
          </a:xfrm>
          <a:prstGeom prst="rect">
            <a:avLst/>
          </a:prstGeom>
          <a:noFill/>
          <a:ln>
            <a:noFill/>
          </a:ln>
        </p:spPr>
      </p:pic>
      <p:sp>
        <p:nvSpPr>
          <p:cNvPr id="215" name="Google Shape;215;p1" descr="Solid dark colored hexagon in the middle of image accent">
            <a:extLst>
              <a:ext uri="{FF2B5EF4-FFF2-40B4-BE49-F238E27FC236}">
                <a16:creationId xmlns:a16="http://schemas.microsoft.com/office/drawing/2014/main" id="{6A86BB1D-141D-AD21-3CB2-8562E3A0F32B}"/>
              </a:ext>
            </a:extLst>
          </p:cNvPr>
          <p:cNvSpPr/>
          <p:nvPr/>
        </p:nvSpPr>
        <p:spPr>
          <a:xfrm rot="-5400000">
            <a:off x="2679702" y="2388914"/>
            <a:ext cx="2412998" cy="2080172"/>
          </a:xfrm>
          <a:prstGeom prst="hexagon">
            <a:avLst>
              <a:gd name="adj" fmla="val 25000"/>
              <a:gd name="vf" fmla="val 115470"/>
            </a:avLst>
          </a:prstGeom>
          <a:solidFill>
            <a:srgbClr val="0019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
            <a:extLst>
              <a:ext uri="{FF2B5EF4-FFF2-40B4-BE49-F238E27FC236}">
                <a16:creationId xmlns:a16="http://schemas.microsoft.com/office/drawing/2014/main" id="{5D86C250-083D-EE4C-AF17-2CC0B2950627}"/>
              </a:ext>
            </a:extLst>
          </p:cNvPr>
          <p:cNvSpPr txBox="1"/>
          <p:nvPr/>
        </p:nvSpPr>
        <p:spPr>
          <a:xfrm>
            <a:off x="3056723" y="2921167"/>
            <a:ext cx="168187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0" u="none" strike="noStrike" cap="none">
                <a:solidFill>
                  <a:schemeClr val="lt1"/>
                </a:solidFill>
                <a:latin typeface="Arial Black"/>
                <a:ea typeface="Arial Black"/>
                <a:cs typeface="Arial Black"/>
                <a:sym typeface="Arial Black"/>
              </a:rPr>
              <a:t>NTI</a:t>
            </a:r>
            <a:endParaRPr/>
          </a:p>
        </p:txBody>
      </p:sp>
      <p:sp>
        <p:nvSpPr>
          <p:cNvPr id="217" name="Google Shape;217;p1">
            <a:extLst>
              <a:ext uri="{FF2B5EF4-FFF2-40B4-BE49-F238E27FC236}">
                <a16:creationId xmlns:a16="http://schemas.microsoft.com/office/drawing/2014/main" id="{A10C9116-C145-8D25-CAF1-B5AF77B849D3}"/>
              </a:ext>
            </a:extLst>
          </p:cNvPr>
          <p:cNvSpPr txBox="1">
            <a:spLocks noGrp="1"/>
          </p:cNvSpPr>
          <p:nvPr>
            <p:ph type="ctrTitle"/>
          </p:nvPr>
        </p:nvSpPr>
        <p:spPr>
          <a:xfrm>
            <a:off x="6375721" y="2006084"/>
            <a:ext cx="4853573" cy="1616252"/>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accent1"/>
              </a:buClr>
              <a:buSzPts val="4300"/>
              <a:buFont typeface="Calibri"/>
              <a:buNone/>
            </a:pPr>
            <a:r>
              <a:rPr lang="en-US" sz="5000" dirty="0"/>
              <a:t>Discussion</a:t>
            </a:r>
            <a:endParaRPr sz="5000" dirty="0"/>
          </a:p>
        </p:txBody>
      </p:sp>
      <p:sp>
        <p:nvSpPr>
          <p:cNvPr id="219" name="Google Shape;219;p1">
            <a:extLst>
              <a:ext uri="{FF2B5EF4-FFF2-40B4-BE49-F238E27FC236}">
                <a16:creationId xmlns:a16="http://schemas.microsoft.com/office/drawing/2014/main" id="{D2A5B0FE-3D33-178B-9D33-B111E01E108F}"/>
              </a:ext>
            </a:extLst>
          </p:cNvPr>
          <p:cNvSpPr txBox="1"/>
          <p:nvPr/>
        </p:nvSpPr>
        <p:spPr>
          <a:xfrm>
            <a:off x="2808015" y="3828239"/>
            <a:ext cx="3021285" cy="5150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E7A40"/>
              </a:buClr>
              <a:buSzPts val="1400"/>
              <a:buFont typeface="Arial"/>
              <a:buNone/>
            </a:pPr>
            <a:r>
              <a:rPr lang="en-US" sz="1400" b="1" i="0" u="none">
                <a:solidFill>
                  <a:schemeClr val="lt1"/>
                </a:solidFill>
                <a:latin typeface="Jacques Francois Shadow"/>
                <a:ea typeface="Jacques Francois Shadow"/>
                <a:cs typeface="Jacques Francois Shadow"/>
                <a:sym typeface="Jacques Francois Shadow"/>
              </a:rPr>
              <a:t>Data Analysis</a:t>
            </a:r>
            <a:endParaRPr/>
          </a:p>
        </p:txBody>
      </p:sp>
    </p:spTree>
    <p:extLst>
      <p:ext uri="{BB962C8B-B14F-4D97-AF65-F5344CB8AC3E}">
        <p14:creationId xmlns:p14="http://schemas.microsoft.com/office/powerpoint/2010/main" val="35341983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4" name="Google Shape;714;p33"/>
          <p:cNvSpPr txBox="1">
            <a:spLocks noGrp="1"/>
          </p:cNvSpPr>
          <p:nvPr>
            <p:ph type="body" idx="2"/>
          </p:nvPr>
        </p:nvSpPr>
        <p:spPr>
          <a:xfrm>
            <a:off x="531379" y="2563477"/>
            <a:ext cx="734263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endParaRPr dirty="0"/>
          </a:p>
        </p:txBody>
      </p:sp>
      <p:sp>
        <p:nvSpPr>
          <p:cNvPr id="718" name="Google Shape;718;p33"/>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3" name="Title 2">
            <a:extLst>
              <a:ext uri="{FF2B5EF4-FFF2-40B4-BE49-F238E27FC236}">
                <a16:creationId xmlns:a16="http://schemas.microsoft.com/office/drawing/2014/main" id="{4FCC3A7C-3E93-2E8D-52C9-7777C0828422}"/>
              </a:ext>
            </a:extLst>
          </p:cNvPr>
          <p:cNvSpPr>
            <a:spLocks noGrp="1"/>
          </p:cNvSpPr>
          <p:nvPr>
            <p:ph type="title"/>
          </p:nvPr>
        </p:nvSpPr>
        <p:spPr>
          <a:xfrm>
            <a:off x="448251" y="727857"/>
            <a:ext cx="7342622" cy="1215566"/>
          </a:xfrm>
        </p:spPr>
        <p:txBody>
          <a:bodyPr/>
          <a:lstStyle/>
          <a:p>
            <a:r>
              <a:rPr lang="en-US" dirty="0"/>
              <a:t>Question 1</a:t>
            </a:r>
          </a:p>
        </p:txBody>
      </p:sp>
      <p:sp>
        <p:nvSpPr>
          <p:cNvPr id="5" name="Text Placeholder 4">
            <a:extLst>
              <a:ext uri="{FF2B5EF4-FFF2-40B4-BE49-F238E27FC236}">
                <a16:creationId xmlns:a16="http://schemas.microsoft.com/office/drawing/2014/main" id="{972E90B4-F0ED-19DD-AD9B-FB3E54824D6A}"/>
              </a:ext>
            </a:extLst>
          </p:cNvPr>
          <p:cNvSpPr>
            <a:spLocks noGrp="1"/>
          </p:cNvSpPr>
          <p:nvPr>
            <p:ph type="body" idx="1"/>
          </p:nvPr>
        </p:nvSpPr>
        <p:spPr>
          <a:xfrm>
            <a:off x="338530" y="2418927"/>
            <a:ext cx="6488258" cy="2958275"/>
          </a:xfrm>
        </p:spPr>
        <p:txBody>
          <a:bodyPr>
            <a:normAutofit lnSpcReduction="10000"/>
          </a:bodyPr>
          <a:lstStyle/>
          <a:p>
            <a:pPr marL="0" marR="0" lvl="0" indent="0" algn="l" rtl="0">
              <a:spcBef>
                <a:spcPts val="0"/>
              </a:spcBef>
              <a:spcAft>
                <a:spcPts val="0"/>
              </a:spcAft>
              <a:buNone/>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Data Marts and Data Warehouses have typically been relational, but the emergence of what technology has helped to let these be used for non-relational data?</a:t>
            </a:r>
          </a:p>
          <a:p>
            <a:pPr marL="0" marR="0" lvl="0" indent="0" algn="l" rtl="0">
              <a:spcBef>
                <a:spcPts val="0"/>
              </a:spcBef>
              <a:spcAft>
                <a:spcPts val="0"/>
              </a:spcAft>
              <a:buNone/>
            </a:pPr>
            <a:endPar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endParaRP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SQL</a:t>
            </a: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ETL</a:t>
            </a: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NoSQL</a:t>
            </a: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Data Lake</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2">
          <a:extLst>
            <a:ext uri="{FF2B5EF4-FFF2-40B4-BE49-F238E27FC236}">
              <a16:creationId xmlns:a16="http://schemas.microsoft.com/office/drawing/2014/main" id="{09CE77A1-6D4D-BF5D-175B-1D2155521036}"/>
            </a:ext>
          </a:extLst>
        </p:cNvPr>
        <p:cNvGrpSpPr/>
        <p:nvPr/>
      </p:nvGrpSpPr>
      <p:grpSpPr>
        <a:xfrm>
          <a:off x="0" y="0"/>
          <a:ext cx="0" cy="0"/>
          <a:chOff x="0" y="0"/>
          <a:chExt cx="0" cy="0"/>
        </a:xfrm>
      </p:grpSpPr>
      <p:sp>
        <p:nvSpPr>
          <p:cNvPr id="714" name="Google Shape;714;p33">
            <a:extLst>
              <a:ext uri="{FF2B5EF4-FFF2-40B4-BE49-F238E27FC236}">
                <a16:creationId xmlns:a16="http://schemas.microsoft.com/office/drawing/2014/main" id="{58C8D294-6483-CA32-4025-F7ECFD5E1E67}"/>
              </a:ext>
            </a:extLst>
          </p:cNvPr>
          <p:cNvSpPr txBox="1">
            <a:spLocks noGrp="1"/>
          </p:cNvSpPr>
          <p:nvPr>
            <p:ph type="body" idx="2"/>
          </p:nvPr>
        </p:nvSpPr>
        <p:spPr>
          <a:xfrm>
            <a:off x="531379" y="2563477"/>
            <a:ext cx="734263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endParaRPr dirty="0"/>
          </a:p>
        </p:txBody>
      </p:sp>
      <p:sp>
        <p:nvSpPr>
          <p:cNvPr id="718" name="Google Shape;718;p33">
            <a:extLst>
              <a:ext uri="{FF2B5EF4-FFF2-40B4-BE49-F238E27FC236}">
                <a16:creationId xmlns:a16="http://schemas.microsoft.com/office/drawing/2014/main" id="{6F8A7DFC-E376-0C34-0757-D5EACF304A12}"/>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
        <p:nvSpPr>
          <p:cNvPr id="3" name="Title 2">
            <a:extLst>
              <a:ext uri="{FF2B5EF4-FFF2-40B4-BE49-F238E27FC236}">
                <a16:creationId xmlns:a16="http://schemas.microsoft.com/office/drawing/2014/main" id="{15B41D36-5F17-DD37-87D7-954C12B71742}"/>
              </a:ext>
            </a:extLst>
          </p:cNvPr>
          <p:cNvSpPr>
            <a:spLocks noGrp="1"/>
          </p:cNvSpPr>
          <p:nvPr>
            <p:ph type="title"/>
          </p:nvPr>
        </p:nvSpPr>
        <p:spPr>
          <a:xfrm>
            <a:off x="448251" y="727857"/>
            <a:ext cx="7342622" cy="1215566"/>
          </a:xfrm>
        </p:spPr>
        <p:txBody>
          <a:bodyPr/>
          <a:lstStyle/>
          <a:p>
            <a:r>
              <a:rPr lang="en-US" dirty="0"/>
              <a:t>Question 2</a:t>
            </a:r>
          </a:p>
        </p:txBody>
      </p:sp>
      <p:sp>
        <p:nvSpPr>
          <p:cNvPr id="5" name="Text Placeholder 4">
            <a:extLst>
              <a:ext uri="{FF2B5EF4-FFF2-40B4-BE49-F238E27FC236}">
                <a16:creationId xmlns:a16="http://schemas.microsoft.com/office/drawing/2014/main" id="{A5DBA4DF-78AD-6C87-C386-67BEFD953CC8}"/>
              </a:ext>
            </a:extLst>
          </p:cNvPr>
          <p:cNvSpPr>
            <a:spLocks noGrp="1"/>
          </p:cNvSpPr>
          <p:nvPr>
            <p:ph type="body" idx="1"/>
          </p:nvPr>
        </p:nvSpPr>
        <p:spPr>
          <a:xfrm>
            <a:off x="338530" y="2418927"/>
            <a:ext cx="6488258" cy="2958275"/>
          </a:xfrm>
        </p:spPr>
        <p:txBody>
          <a:bodyPr>
            <a:normAutofit/>
          </a:bodyPr>
          <a:lstStyle/>
          <a:p>
            <a:pPr marL="0" marR="0" lvl="0" indent="0" algn="l" rtl="0">
              <a:spcBef>
                <a:spcPts val="0"/>
              </a:spcBef>
              <a:spcAft>
                <a:spcPts val="0"/>
              </a:spcAft>
              <a:buNone/>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What is one of the most significant advantages of an RDBMS?</a:t>
            </a:r>
          </a:p>
          <a:p>
            <a:pPr marL="0" marR="0" lvl="0" indent="0" algn="l" rtl="0">
              <a:spcBef>
                <a:spcPts val="0"/>
              </a:spcBef>
              <a:spcAft>
                <a:spcPts val="0"/>
              </a:spcAft>
              <a:buNone/>
            </a:pPr>
            <a:endPar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endParaRP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Enforces a limit on the length of data fields</a:t>
            </a: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Can store only structured data</a:t>
            </a: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Requires source and destination tables to be identical for migrating data</a:t>
            </a:r>
          </a:p>
          <a:p>
            <a:pPr marL="171450" marR="0" lvl="0" indent="-171450" algn="l" rtl="0">
              <a:spcBef>
                <a:spcPts val="0"/>
              </a:spcBef>
              <a:spcAft>
                <a:spcPts val="0"/>
              </a:spcAft>
              <a:buClr>
                <a:srgbClr val="00B0F0"/>
              </a:buClr>
              <a:buFont typeface="Arial" panose="020B0604020202020204" pitchFamily="34" charset="0"/>
              <a:buChar char="•"/>
            </a:pPr>
            <a:r>
              <a:rPr lang="en-US" sz="24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Is ACID-Compliant</a:t>
            </a:r>
          </a:p>
        </p:txBody>
      </p:sp>
    </p:spTree>
    <p:extLst>
      <p:ext uri="{BB962C8B-B14F-4D97-AF65-F5344CB8AC3E}">
        <p14:creationId xmlns:p14="http://schemas.microsoft.com/office/powerpoint/2010/main" val="224828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2">
          <a:extLst>
            <a:ext uri="{FF2B5EF4-FFF2-40B4-BE49-F238E27FC236}">
              <a16:creationId xmlns:a16="http://schemas.microsoft.com/office/drawing/2014/main" id="{9B401741-6710-91DC-6423-2F80FEAC9C57}"/>
            </a:ext>
          </a:extLst>
        </p:cNvPr>
        <p:cNvGrpSpPr/>
        <p:nvPr/>
      </p:nvGrpSpPr>
      <p:grpSpPr>
        <a:xfrm>
          <a:off x="0" y="0"/>
          <a:ext cx="0" cy="0"/>
          <a:chOff x="0" y="0"/>
          <a:chExt cx="0" cy="0"/>
        </a:xfrm>
      </p:grpSpPr>
      <p:sp>
        <p:nvSpPr>
          <p:cNvPr id="714" name="Google Shape;714;p33">
            <a:extLst>
              <a:ext uri="{FF2B5EF4-FFF2-40B4-BE49-F238E27FC236}">
                <a16:creationId xmlns:a16="http://schemas.microsoft.com/office/drawing/2014/main" id="{D4EA718A-E341-33A6-96F0-13A0EF14846C}"/>
              </a:ext>
            </a:extLst>
          </p:cNvPr>
          <p:cNvSpPr txBox="1">
            <a:spLocks noGrp="1"/>
          </p:cNvSpPr>
          <p:nvPr>
            <p:ph type="body" idx="2"/>
          </p:nvPr>
        </p:nvSpPr>
        <p:spPr>
          <a:xfrm>
            <a:off x="531379" y="2563477"/>
            <a:ext cx="734263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endParaRPr dirty="0"/>
          </a:p>
        </p:txBody>
      </p:sp>
      <p:sp>
        <p:nvSpPr>
          <p:cNvPr id="718" name="Google Shape;718;p33">
            <a:extLst>
              <a:ext uri="{FF2B5EF4-FFF2-40B4-BE49-F238E27FC236}">
                <a16:creationId xmlns:a16="http://schemas.microsoft.com/office/drawing/2014/main" id="{28B02ED4-5334-862A-EAA1-AC431B90DADE}"/>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
        <p:nvSpPr>
          <p:cNvPr id="3" name="Title 2">
            <a:extLst>
              <a:ext uri="{FF2B5EF4-FFF2-40B4-BE49-F238E27FC236}">
                <a16:creationId xmlns:a16="http://schemas.microsoft.com/office/drawing/2014/main" id="{5FE8B99B-FAD2-6462-F721-03B8316D52CB}"/>
              </a:ext>
            </a:extLst>
          </p:cNvPr>
          <p:cNvSpPr>
            <a:spLocks noGrp="1"/>
          </p:cNvSpPr>
          <p:nvPr>
            <p:ph type="title"/>
          </p:nvPr>
        </p:nvSpPr>
        <p:spPr>
          <a:xfrm>
            <a:off x="448251" y="727857"/>
            <a:ext cx="7342622" cy="1215566"/>
          </a:xfrm>
        </p:spPr>
        <p:txBody>
          <a:bodyPr/>
          <a:lstStyle/>
          <a:p>
            <a:r>
              <a:rPr lang="en-US" dirty="0"/>
              <a:t>Question 3</a:t>
            </a:r>
          </a:p>
        </p:txBody>
      </p:sp>
      <p:sp>
        <p:nvSpPr>
          <p:cNvPr id="5" name="Text Placeholder 4">
            <a:extLst>
              <a:ext uri="{FF2B5EF4-FFF2-40B4-BE49-F238E27FC236}">
                <a16:creationId xmlns:a16="http://schemas.microsoft.com/office/drawing/2014/main" id="{3EA5B46A-BE8B-012B-BB51-211F2CFF5D86}"/>
              </a:ext>
            </a:extLst>
          </p:cNvPr>
          <p:cNvSpPr>
            <a:spLocks noGrp="1"/>
          </p:cNvSpPr>
          <p:nvPr>
            <p:ph type="body" idx="1"/>
          </p:nvPr>
        </p:nvSpPr>
        <p:spPr>
          <a:xfrm>
            <a:off x="338530" y="2418927"/>
            <a:ext cx="6488258" cy="2958275"/>
          </a:xfrm>
        </p:spPr>
        <p:txBody>
          <a:bodyPr>
            <a:normAutofit fontScale="92500" lnSpcReduction="10000"/>
          </a:bodyPr>
          <a:lstStyle/>
          <a:p>
            <a:pPr marL="0" marR="0" lvl="0" indent="0" algn="l" rtl="0">
              <a:spcBef>
                <a:spcPts val="0"/>
              </a:spcBef>
              <a:spcAft>
                <a:spcPts val="0"/>
              </a:spcAft>
              <a:buNone/>
            </a:pPr>
            <a:r>
              <a:rPr lang="en-US" sz="2400" dirty="0">
                <a:solidFill>
                  <a:srgbClr val="002060"/>
                </a:solidFill>
                <a:latin typeface="Calibri" panose="020F0502020204030204" pitchFamily="34" charset="0"/>
                <a:cs typeface="Calibri" panose="020F0502020204030204" pitchFamily="34" charset="0"/>
                <a:sym typeface="Arial Black"/>
              </a:rPr>
              <a:t>Which one of the NoSQL database types uses a graphical model to represent and store data, and is particularly</a:t>
            </a:r>
          </a:p>
          <a:p>
            <a:pPr marL="0" marR="0" lvl="0" indent="0" algn="l" rtl="0">
              <a:spcBef>
                <a:spcPts val="0"/>
              </a:spcBef>
              <a:spcAft>
                <a:spcPts val="0"/>
              </a:spcAft>
              <a:buNone/>
            </a:pPr>
            <a:r>
              <a:rPr lang="en-US" sz="2400" dirty="0">
                <a:solidFill>
                  <a:srgbClr val="002060"/>
                </a:solidFill>
                <a:latin typeface="Calibri" panose="020F0502020204030204" pitchFamily="34" charset="0"/>
                <a:cs typeface="Calibri" panose="020F0502020204030204" pitchFamily="34" charset="0"/>
                <a:sym typeface="Arial Black"/>
              </a:rPr>
              <a:t>useful for visualizing, analyzing, and finding connections between different pieces of data?</a:t>
            </a:r>
          </a:p>
          <a:p>
            <a:pPr marL="0" marR="0" lvl="0" indent="0" algn="l" rtl="0">
              <a:spcBef>
                <a:spcPts val="0"/>
              </a:spcBef>
              <a:spcAft>
                <a:spcPts val="0"/>
              </a:spcAft>
              <a:buNone/>
            </a:pPr>
            <a:endParaRPr lang="en-US" sz="2400" dirty="0">
              <a:solidFill>
                <a:srgbClr val="002060"/>
              </a:solidFill>
              <a:latin typeface="Calibri" panose="020F0502020204030204" pitchFamily="34" charset="0"/>
              <a:cs typeface="Calibri" panose="020F0502020204030204" pitchFamily="34" charset="0"/>
              <a:sym typeface="Arial Black"/>
            </a:endParaRPr>
          </a:p>
          <a:p>
            <a:pPr marL="171450" marR="0" lvl="0" indent="-171450" algn="l" rtl="0">
              <a:spcBef>
                <a:spcPts val="0"/>
              </a:spcBef>
              <a:spcAft>
                <a:spcPts val="0"/>
              </a:spcAft>
              <a:buClr>
                <a:srgbClr val="00B0F0"/>
              </a:buClr>
              <a:buFont typeface="Arial" panose="020B0604020202020204" pitchFamily="34" charset="0"/>
              <a:buChar char="•"/>
            </a:pPr>
            <a:r>
              <a:rPr lang="en-US" sz="2400" dirty="0">
                <a:solidFill>
                  <a:srgbClr val="002060"/>
                </a:solidFill>
                <a:latin typeface="Calibri" panose="020F0502020204030204" pitchFamily="34" charset="0"/>
                <a:cs typeface="Calibri" panose="020F0502020204030204" pitchFamily="34" charset="0"/>
                <a:sym typeface="Arial Black"/>
              </a:rPr>
              <a:t>Column-based</a:t>
            </a:r>
          </a:p>
          <a:p>
            <a:pPr marL="171450" marR="0" lvl="0" indent="-171450" algn="l" rtl="0">
              <a:spcBef>
                <a:spcPts val="0"/>
              </a:spcBef>
              <a:spcAft>
                <a:spcPts val="0"/>
              </a:spcAft>
              <a:buClr>
                <a:srgbClr val="00B0F0"/>
              </a:buClr>
              <a:buFont typeface="Arial" panose="020B0604020202020204" pitchFamily="34" charset="0"/>
              <a:buChar char="•"/>
            </a:pPr>
            <a:r>
              <a:rPr lang="en-US" sz="2400" dirty="0">
                <a:solidFill>
                  <a:srgbClr val="002060"/>
                </a:solidFill>
                <a:latin typeface="Calibri" panose="020F0502020204030204" pitchFamily="34" charset="0"/>
                <a:cs typeface="Calibri" panose="020F0502020204030204" pitchFamily="34" charset="0"/>
                <a:sym typeface="Arial Black"/>
              </a:rPr>
              <a:t>Document-based</a:t>
            </a:r>
          </a:p>
          <a:p>
            <a:pPr marL="171450" marR="0" lvl="0" indent="-171450" algn="l" rtl="0">
              <a:spcBef>
                <a:spcPts val="0"/>
              </a:spcBef>
              <a:spcAft>
                <a:spcPts val="0"/>
              </a:spcAft>
              <a:buClr>
                <a:srgbClr val="00B0F0"/>
              </a:buClr>
              <a:buFont typeface="Arial" panose="020B0604020202020204" pitchFamily="34" charset="0"/>
              <a:buChar char="•"/>
            </a:pPr>
            <a:r>
              <a:rPr lang="en-US" sz="2400" dirty="0">
                <a:solidFill>
                  <a:srgbClr val="002060"/>
                </a:solidFill>
                <a:latin typeface="Calibri" panose="020F0502020204030204" pitchFamily="34" charset="0"/>
                <a:cs typeface="Calibri" panose="020F0502020204030204" pitchFamily="34" charset="0"/>
                <a:sym typeface="Arial Black"/>
              </a:rPr>
              <a:t>Graph-based</a:t>
            </a:r>
          </a:p>
          <a:p>
            <a:pPr marL="171450" marR="0" lvl="0" indent="-171450" algn="l" rtl="0">
              <a:spcBef>
                <a:spcPts val="0"/>
              </a:spcBef>
              <a:spcAft>
                <a:spcPts val="0"/>
              </a:spcAft>
              <a:buClr>
                <a:srgbClr val="00B0F0"/>
              </a:buClr>
              <a:buFont typeface="Arial" panose="020B0604020202020204" pitchFamily="34" charset="0"/>
              <a:buChar char="•"/>
            </a:pPr>
            <a:r>
              <a:rPr lang="en-US" sz="2400" dirty="0">
                <a:solidFill>
                  <a:srgbClr val="002060"/>
                </a:solidFill>
                <a:latin typeface="Calibri" panose="020F0502020204030204" pitchFamily="34" charset="0"/>
                <a:cs typeface="Calibri" panose="020F0502020204030204" pitchFamily="34" charset="0"/>
                <a:sym typeface="Arial Black"/>
              </a:rPr>
              <a:t>Key value store</a:t>
            </a:r>
          </a:p>
        </p:txBody>
      </p:sp>
    </p:spTree>
    <p:extLst>
      <p:ext uri="{BB962C8B-B14F-4D97-AF65-F5344CB8AC3E}">
        <p14:creationId xmlns:p14="http://schemas.microsoft.com/office/powerpoint/2010/main" val="36045021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12">
          <a:extLst>
            <a:ext uri="{FF2B5EF4-FFF2-40B4-BE49-F238E27FC236}">
              <a16:creationId xmlns:a16="http://schemas.microsoft.com/office/drawing/2014/main" id="{C6374ECB-341C-F9EA-CE85-50362F5F277C}"/>
            </a:ext>
          </a:extLst>
        </p:cNvPr>
        <p:cNvGrpSpPr/>
        <p:nvPr/>
      </p:nvGrpSpPr>
      <p:grpSpPr>
        <a:xfrm>
          <a:off x="0" y="0"/>
          <a:ext cx="0" cy="0"/>
          <a:chOff x="0" y="0"/>
          <a:chExt cx="0" cy="0"/>
        </a:xfrm>
      </p:grpSpPr>
      <p:sp>
        <p:nvSpPr>
          <p:cNvPr id="714" name="Google Shape;714;p33">
            <a:extLst>
              <a:ext uri="{FF2B5EF4-FFF2-40B4-BE49-F238E27FC236}">
                <a16:creationId xmlns:a16="http://schemas.microsoft.com/office/drawing/2014/main" id="{3F191BAB-C0ED-303D-A291-FE8BDDEF1967}"/>
              </a:ext>
            </a:extLst>
          </p:cNvPr>
          <p:cNvSpPr txBox="1">
            <a:spLocks noGrp="1"/>
          </p:cNvSpPr>
          <p:nvPr>
            <p:ph type="body" idx="2"/>
          </p:nvPr>
        </p:nvSpPr>
        <p:spPr>
          <a:xfrm>
            <a:off x="531379" y="2563477"/>
            <a:ext cx="7342631" cy="60889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None/>
            </a:pPr>
            <a:r>
              <a:rPr lang="en-US" dirty="0"/>
              <a:t> </a:t>
            </a:r>
            <a:endParaRPr dirty="0"/>
          </a:p>
        </p:txBody>
      </p:sp>
      <p:sp>
        <p:nvSpPr>
          <p:cNvPr id="718" name="Google Shape;718;p33">
            <a:extLst>
              <a:ext uri="{FF2B5EF4-FFF2-40B4-BE49-F238E27FC236}">
                <a16:creationId xmlns:a16="http://schemas.microsoft.com/office/drawing/2014/main" id="{F457934F-01EC-F14F-F0DC-356DB610F36C}"/>
              </a:ext>
            </a:extLst>
          </p:cNvPr>
          <p:cNvSpPr txBox="1">
            <a:spLocks noGrp="1"/>
          </p:cNvSpPr>
          <p:nvPr>
            <p:ph type="sldNum" idx="12"/>
          </p:nvPr>
        </p:nvSpPr>
        <p:spPr>
          <a:xfrm>
            <a:off x="11146971" y="6356350"/>
            <a:ext cx="74022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
        <p:nvSpPr>
          <p:cNvPr id="3" name="Title 2">
            <a:extLst>
              <a:ext uri="{FF2B5EF4-FFF2-40B4-BE49-F238E27FC236}">
                <a16:creationId xmlns:a16="http://schemas.microsoft.com/office/drawing/2014/main" id="{A83D0CA9-444C-2B06-48B9-CCEB9B11DE09}"/>
              </a:ext>
            </a:extLst>
          </p:cNvPr>
          <p:cNvSpPr>
            <a:spLocks noGrp="1"/>
          </p:cNvSpPr>
          <p:nvPr>
            <p:ph type="title"/>
          </p:nvPr>
        </p:nvSpPr>
        <p:spPr>
          <a:xfrm>
            <a:off x="448251" y="727857"/>
            <a:ext cx="7342622" cy="1215566"/>
          </a:xfrm>
        </p:spPr>
        <p:txBody>
          <a:bodyPr/>
          <a:lstStyle/>
          <a:p>
            <a:r>
              <a:rPr lang="en-US" dirty="0"/>
              <a:t>Question 4</a:t>
            </a:r>
          </a:p>
        </p:txBody>
      </p:sp>
      <p:sp>
        <p:nvSpPr>
          <p:cNvPr id="5" name="Text Placeholder 4">
            <a:extLst>
              <a:ext uri="{FF2B5EF4-FFF2-40B4-BE49-F238E27FC236}">
                <a16:creationId xmlns:a16="http://schemas.microsoft.com/office/drawing/2014/main" id="{236E7EDE-3C6B-9276-E3F6-12B19F08D1F9}"/>
              </a:ext>
            </a:extLst>
          </p:cNvPr>
          <p:cNvSpPr>
            <a:spLocks noGrp="1"/>
          </p:cNvSpPr>
          <p:nvPr>
            <p:ph type="body" idx="1"/>
          </p:nvPr>
        </p:nvSpPr>
        <p:spPr>
          <a:xfrm>
            <a:off x="338530" y="2418927"/>
            <a:ext cx="6488258" cy="2958275"/>
          </a:xfrm>
        </p:spPr>
        <p:txBody>
          <a:bodyPr>
            <a:normAutofit/>
          </a:bodyPr>
          <a:lstStyle/>
          <a:p>
            <a:pPr marL="0" marR="0" lvl="0" indent="0" algn="l" rtl="0">
              <a:spcBef>
                <a:spcPts val="0"/>
              </a:spcBef>
              <a:spcAft>
                <a:spcPts val="0"/>
              </a:spcAft>
              <a:buNone/>
            </a:pPr>
            <a:r>
              <a:rPr lang="en-US" sz="22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Which of the data repositories serves as a pool of raw data and stores large amounts of structured, semi- structured, and unstructured data in their native formats?</a:t>
            </a:r>
          </a:p>
          <a:p>
            <a:pPr marL="0" marR="0" lvl="0" indent="0" algn="l" rtl="0">
              <a:spcBef>
                <a:spcPts val="0"/>
              </a:spcBef>
              <a:spcAft>
                <a:spcPts val="0"/>
              </a:spcAft>
              <a:buNone/>
            </a:pPr>
            <a:endParaRPr lang="en-US" sz="2200" i="0" u="none" strike="noStrike" cap="none" dirty="0">
              <a:solidFill>
                <a:srgbClr val="002060"/>
              </a:solidFill>
              <a:latin typeface="Calibri" panose="020F0502020204030204" pitchFamily="34" charset="0"/>
              <a:ea typeface="Arial Black"/>
              <a:cs typeface="Calibri" panose="020F0502020204030204" pitchFamily="34" charset="0"/>
              <a:sym typeface="Arial Black"/>
            </a:endParaRPr>
          </a:p>
          <a:p>
            <a:pPr marL="342900" marR="0" lvl="0" indent="-342900" algn="l" rtl="0">
              <a:spcBef>
                <a:spcPts val="0"/>
              </a:spcBef>
              <a:spcAft>
                <a:spcPts val="0"/>
              </a:spcAft>
              <a:buFont typeface="Arial" panose="020B0604020202020204" pitchFamily="34" charset="0"/>
              <a:buChar char="•"/>
            </a:pPr>
            <a:r>
              <a:rPr lang="en-US" sz="22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Data Lakes</a:t>
            </a:r>
          </a:p>
          <a:p>
            <a:pPr marL="342900" marR="0" lvl="0" indent="-342900" algn="l" rtl="0">
              <a:spcBef>
                <a:spcPts val="0"/>
              </a:spcBef>
              <a:spcAft>
                <a:spcPts val="0"/>
              </a:spcAft>
              <a:buFont typeface="Arial" panose="020B0604020202020204" pitchFamily="34" charset="0"/>
              <a:buChar char="•"/>
            </a:pPr>
            <a:r>
              <a:rPr lang="en-US" sz="22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Data Marts</a:t>
            </a:r>
          </a:p>
          <a:p>
            <a:pPr marL="342900" marR="0" lvl="0" indent="-342900" algn="l" rtl="0">
              <a:spcBef>
                <a:spcPts val="0"/>
              </a:spcBef>
              <a:spcAft>
                <a:spcPts val="0"/>
              </a:spcAft>
              <a:buFont typeface="Arial" panose="020B0604020202020204" pitchFamily="34" charset="0"/>
              <a:buChar char="•"/>
            </a:pPr>
            <a:r>
              <a:rPr lang="en-US" sz="22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Data Warehouses</a:t>
            </a:r>
          </a:p>
          <a:p>
            <a:pPr marL="342900" marR="0" lvl="0" indent="-342900" algn="l" rtl="0">
              <a:spcBef>
                <a:spcPts val="0"/>
              </a:spcBef>
              <a:spcAft>
                <a:spcPts val="0"/>
              </a:spcAft>
              <a:buFont typeface="Arial" panose="020B0604020202020204" pitchFamily="34" charset="0"/>
              <a:buChar char="•"/>
            </a:pPr>
            <a:r>
              <a:rPr lang="en-US" sz="2200" i="0" u="none" strike="noStrike" cap="none" dirty="0">
                <a:solidFill>
                  <a:srgbClr val="002060"/>
                </a:solidFill>
                <a:latin typeface="Calibri" panose="020F0502020204030204" pitchFamily="34" charset="0"/>
                <a:ea typeface="Arial Black"/>
                <a:cs typeface="Calibri" panose="020F0502020204030204" pitchFamily="34" charset="0"/>
                <a:sym typeface="Arial Black"/>
              </a:rPr>
              <a:t>Relational Databases</a:t>
            </a:r>
            <a:endParaRPr lang="en-US" sz="2200" dirty="0">
              <a:solidFill>
                <a:srgbClr val="002060"/>
              </a:solidFill>
              <a:latin typeface="Calibri" panose="020F0502020204030204" pitchFamily="34" charset="0"/>
              <a:cs typeface="Calibri" panose="020F0502020204030204" pitchFamily="34" charset="0"/>
              <a:sym typeface="Arial Black"/>
            </a:endParaRPr>
          </a:p>
        </p:txBody>
      </p:sp>
    </p:spTree>
    <p:extLst>
      <p:ext uri="{BB962C8B-B14F-4D97-AF65-F5344CB8AC3E}">
        <p14:creationId xmlns:p14="http://schemas.microsoft.com/office/powerpoint/2010/main" val="1786013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21F3C773-503A-DD05-EBCC-F45B83194FAD}"/>
            </a:ext>
          </a:extLst>
        </p:cNvPr>
        <p:cNvGrpSpPr/>
        <p:nvPr/>
      </p:nvGrpSpPr>
      <p:grpSpPr>
        <a:xfrm>
          <a:off x="0" y="0"/>
          <a:ext cx="0" cy="0"/>
          <a:chOff x="0" y="0"/>
          <a:chExt cx="0" cy="0"/>
        </a:xfrm>
      </p:grpSpPr>
      <p:sp>
        <p:nvSpPr>
          <p:cNvPr id="215" name="Google Shape;215;p1" descr="Solid dark colored hexagon in the middle of image accent">
            <a:extLst>
              <a:ext uri="{FF2B5EF4-FFF2-40B4-BE49-F238E27FC236}">
                <a16:creationId xmlns:a16="http://schemas.microsoft.com/office/drawing/2014/main" id="{CD95222E-18A9-AE97-73C6-F1EDF404FB47}"/>
              </a:ext>
            </a:extLst>
          </p:cNvPr>
          <p:cNvSpPr/>
          <p:nvPr/>
        </p:nvSpPr>
        <p:spPr>
          <a:xfrm rot="-5400000">
            <a:off x="2679702" y="2388914"/>
            <a:ext cx="2412998" cy="2080172"/>
          </a:xfrm>
          <a:prstGeom prst="hexagon">
            <a:avLst>
              <a:gd name="adj" fmla="val 25000"/>
              <a:gd name="vf" fmla="val 115470"/>
            </a:avLst>
          </a:prstGeom>
          <a:solidFill>
            <a:srgbClr val="0019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
            <a:extLst>
              <a:ext uri="{FF2B5EF4-FFF2-40B4-BE49-F238E27FC236}">
                <a16:creationId xmlns:a16="http://schemas.microsoft.com/office/drawing/2014/main" id="{B7163AA9-5B97-1FC7-AE9A-A384164E3174}"/>
              </a:ext>
            </a:extLst>
          </p:cNvPr>
          <p:cNvSpPr txBox="1"/>
          <p:nvPr/>
        </p:nvSpPr>
        <p:spPr>
          <a:xfrm>
            <a:off x="3056723" y="2921167"/>
            <a:ext cx="168187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0" u="none" strike="noStrike" cap="none" dirty="0">
                <a:solidFill>
                  <a:schemeClr val="lt1"/>
                </a:solidFill>
                <a:latin typeface="Arial Black"/>
                <a:ea typeface="Arial Black"/>
                <a:cs typeface="Arial Black"/>
                <a:sym typeface="Arial Black"/>
              </a:rPr>
              <a:t>NTI</a:t>
            </a:r>
            <a:endParaRPr dirty="0"/>
          </a:p>
        </p:txBody>
      </p:sp>
      <p:sp>
        <p:nvSpPr>
          <p:cNvPr id="218" name="Google Shape;218;p1">
            <a:extLst>
              <a:ext uri="{FF2B5EF4-FFF2-40B4-BE49-F238E27FC236}">
                <a16:creationId xmlns:a16="http://schemas.microsoft.com/office/drawing/2014/main" id="{3C4D3AA1-8D2C-52EF-5FC8-DAD743232750}"/>
              </a:ext>
            </a:extLst>
          </p:cNvPr>
          <p:cNvSpPr txBox="1">
            <a:spLocks noGrp="1"/>
          </p:cNvSpPr>
          <p:nvPr>
            <p:ph type="subTitle" idx="1"/>
          </p:nvPr>
        </p:nvSpPr>
        <p:spPr>
          <a:xfrm>
            <a:off x="6375214" y="3640998"/>
            <a:ext cx="4854339" cy="12575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400"/>
              <a:buNone/>
            </a:pPr>
            <a:r>
              <a:rPr lang="en-US"/>
              <a:t> </a:t>
            </a:r>
            <a:endParaRPr/>
          </a:p>
        </p:txBody>
      </p:sp>
      <p:sp>
        <p:nvSpPr>
          <p:cNvPr id="219" name="Google Shape;219;p1">
            <a:extLst>
              <a:ext uri="{FF2B5EF4-FFF2-40B4-BE49-F238E27FC236}">
                <a16:creationId xmlns:a16="http://schemas.microsoft.com/office/drawing/2014/main" id="{57570D28-67EE-E8BE-1DF0-F3233A93CBEA}"/>
              </a:ext>
            </a:extLst>
          </p:cNvPr>
          <p:cNvSpPr txBox="1"/>
          <p:nvPr/>
        </p:nvSpPr>
        <p:spPr>
          <a:xfrm>
            <a:off x="2808015" y="3828239"/>
            <a:ext cx="3021285" cy="5150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E7A40"/>
              </a:buClr>
              <a:buSzPts val="1400"/>
              <a:buFont typeface="Arial"/>
              <a:buNone/>
            </a:pPr>
            <a:r>
              <a:rPr lang="en-US" sz="1400" b="1" i="0" u="none">
                <a:solidFill>
                  <a:schemeClr val="lt1"/>
                </a:solidFill>
                <a:latin typeface="Jacques Francois Shadow"/>
                <a:ea typeface="Jacques Francois Shadow"/>
                <a:cs typeface="Jacques Francois Shadow"/>
                <a:sym typeface="Jacques Francois Shadow"/>
              </a:rPr>
              <a:t>Data Analysis</a:t>
            </a:r>
            <a:endParaRPr/>
          </a:p>
        </p:txBody>
      </p:sp>
      <p:sp>
        <p:nvSpPr>
          <p:cNvPr id="4" name="Google Shape;391;p20">
            <a:extLst>
              <a:ext uri="{FF2B5EF4-FFF2-40B4-BE49-F238E27FC236}">
                <a16:creationId xmlns:a16="http://schemas.microsoft.com/office/drawing/2014/main" id="{AEEC4563-FDC1-08AE-3B6C-D619F7101A0C}"/>
              </a:ext>
            </a:extLst>
          </p:cNvPr>
          <p:cNvSpPr txBox="1">
            <a:spLocks/>
          </p:cNvSpPr>
          <p:nvPr/>
        </p:nvSpPr>
        <p:spPr>
          <a:xfrm>
            <a:off x="359229" y="558802"/>
            <a:ext cx="8333222" cy="939798"/>
          </a:xfrm>
          <a:prstGeom prst="rect">
            <a:avLst/>
          </a:prstGeom>
          <a:solidFill>
            <a:schemeClr val="lt1">
              <a:alpha val="89803"/>
            </a:schemeClr>
          </a:solidFill>
          <a:ln>
            <a:noFill/>
          </a:ln>
        </p:spPr>
        <p:txBody>
          <a:bodyPr spcFirstLastPara="1" wrap="square" lIns="288000" tIns="45700" rIns="91425" bIns="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4300"/>
              <a:buFont typeface="Calibri"/>
              <a:buNone/>
              <a:defRPr sz="4300" b="1" i="0" u="none" strike="noStrike" cap="none">
                <a:solidFill>
                  <a:schemeClr val="accen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dk1"/>
              </a:buClr>
              <a:buSzPts val="3600"/>
            </a:pPr>
            <a:r>
              <a:rPr lang="en-US">
                <a:solidFill>
                  <a:schemeClr val="dk1"/>
                </a:solidFill>
              </a:rPr>
              <a:t>Questions</a:t>
            </a:r>
            <a:endParaRPr lang="en-US" b="0">
              <a:solidFill>
                <a:schemeClr val="dk1"/>
              </a:solidFill>
            </a:endParaRPr>
          </a:p>
        </p:txBody>
      </p:sp>
    </p:spTree>
    <p:extLst>
      <p:ext uri="{BB962C8B-B14F-4D97-AF65-F5344CB8AC3E}">
        <p14:creationId xmlns:p14="http://schemas.microsoft.com/office/powerpoint/2010/main" val="41182767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6" name="Google Shape;396;p21" title="Building image"/>
          <p:cNvPicPr preferRelativeResize="0">
            <a:picLocks noGrp="1"/>
          </p:cNvPicPr>
          <p:nvPr>
            <p:ph type="pic" idx="5"/>
          </p:nvPr>
        </p:nvPicPr>
        <p:blipFill rotWithShape="1">
          <a:blip r:embed="rId3">
            <a:alphaModFix/>
          </a:blip>
          <a:srcRect l="20784" r="20784"/>
          <a:stretch/>
        </p:blipFill>
        <p:spPr>
          <a:xfrm>
            <a:off x="1683398" y="860944"/>
            <a:ext cx="4428523" cy="5137089"/>
          </a:xfrm>
          <a:prstGeom prst="rect">
            <a:avLst/>
          </a:prstGeom>
          <a:noFill/>
          <a:ln>
            <a:noFill/>
          </a:ln>
        </p:spPr>
      </p:pic>
      <p:sp>
        <p:nvSpPr>
          <p:cNvPr id="397" name="Google Shape;397;p21" descr="Solid dark colored hexagon in the middle of image accent"/>
          <p:cNvSpPr/>
          <p:nvPr/>
        </p:nvSpPr>
        <p:spPr>
          <a:xfrm rot="-5400000">
            <a:off x="2679702" y="2388914"/>
            <a:ext cx="2412998" cy="2080172"/>
          </a:xfrm>
          <a:prstGeom prst="hexagon">
            <a:avLst>
              <a:gd name="adj" fmla="val 25000"/>
              <a:gd name="vf" fmla="val 115470"/>
            </a:avLst>
          </a:prstGeom>
          <a:solidFill>
            <a:srgbClr val="0019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98" name="Google Shape;398;p21" descr="Company initials and name in grouped text"/>
          <p:cNvGrpSpPr/>
          <p:nvPr/>
        </p:nvGrpSpPr>
        <p:grpSpPr>
          <a:xfrm>
            <a:off x="3061004" y="2855631"/>
            <a:ext cx="1681871" cy="1118752"/>
            <a:chOff x="3061004" y="2902286"/>
            <a:chExt cx="1681871" cy="1118752"/>
          </a:xfrm>
        </p:grpSpPr>
        <p:sp>
          <p:nvSpPr>
            <p:cNvPr id="399" name="Google Shape;399;p21"/>
            <p:cNvSpPr txBox="1"/>
            <p:nvPr/>
          </p:nvSpPr>
          <p:spPr>
            <a:xfrm>
              <a:off x="3061004" y="2902286"/>
              <a:ext cx="168187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a:solidFill>
                    <a:schemeClr val="lt1"/>
                  </a:solidFill>
                  <a:latin typeface="Arial Black"/>
                  <a:ea typeface="Arial Black"/>
                  <a:cs typeface="Arial Black"/>
                  <a:sym typeface="Arial Black"/>
                </a:rPr>
                <a:t>NTI</a:t>
              </a:r>
              <a:endParaRPr/>
            </a:p>
          </p:txBody>
        </p:sp>
        <p:sp>
          <p:nvSpPr>
            <p:cNvPr id="400" name="Google Shape;400;p21"/>
            <p:cNvSpPr txBox="1"/>
            <p:nvPr/>
          </p:nvSpPr>
          <p:spPr>
            <a:xfrm>
              <a:off x="3310693" y="3713261"/>
              <a:ext cx="11553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Calibri"/>
                  <a:ea typeface="Calibri"/>
                  <a:cs typeface="Calibri"/>
                  <a:sym typeface="Calibri"/>
                </a:rPr>
                <a:t>Data Analysis</a:t>
              </a:r>
              <a:endParaRPr/>
            </a:p>
          </p:txBody>
        </p:sp>
      </p:grpSp>
      <p:sp>
        <p:nvSpPr>
          <p:cNvPr id="401" name="Google Shape;401;p21"/>
          <p:cNvSpPr txBox="1">
            <a:spLocks noGrp="1"/>
          </p:cNvSpPr>
          <p:nvPr>
            <p:ph type="ctrTitle"/>
          </p:nvPr>
        </p:nvSpPr>
        <p:spPr>
          <a:xfrm>
            <a:off x="6375721" y="1821022"/>
            <a:ext cx="4853573" cy="1616252"/>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accent1"/>
              </a:buClr>
              <a:buSzPts val="4300"/>
              <a:buFont typeface="Calibri"/>
              <a:buNone/>
            </a:pPr>
            <a:r>
              <a:rPr lang="en-US"/>
              <a:t>Thank </a:t>
            </a:r>
            <a:r>
              <a:rPr lang="en-US" b="0"/>
              <a:t>You.</a:t>
            </a:r>
            <a:endParaRPr/>
          </a:p>
        </p:txBody>
      </p:sp>
      <p:sp>
        <p:nvSpPr>
          <p:cNvPr id="402" name="Google Shape;402;p21"/>
          <p:cNvSpPr txBox="1">
            <a:spLocks noGrp="1"/>
          </p:cNvSpPr>
          <p:nvPr>
            <p:ph type="body" idx="1"/>
          </p:nvPr>
        </p:nvSpPr>
        <p:spPr>
          <a:xfrm>
            <a:off x="6822929" y="3461163"/>
            <a:ext cx="3445782" cy="288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dirty="0"/>
              <a:t>Mennatullah Elsahy</a:t>
            </a:r>
            <a:endParaRPr dirty="0"/>
          </a:p>
        </p:txBody>
      </p:sp>
      <p:sp>
        <p:nvSpPr>
          <p:cNvPr id="403" name="Google Shape;403;p21"/>
          <p:cNvSpPr txBox="1">
            <a:spLocks noGrp="1"/>
          </p:cNvSpPr>
          <p:nvPr>
            <p:ph type="body" idx="2"/>
          </p:nvPr>
        </p:nvSpPr>
        <p:spPr>
          <a:xfrm>
            <a:off x="6822929" y="3839451"/>
            <a:ext cx="3445782" cy="288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dirty="0"/>
              <a:t>01064257910</a:t>
            </a:r>
            <a:endParaRPr dirty="0"/>
          </a:p>
        </p:txBody>
      </p:sp>
      <p:sp>
        <p:nvSpPr>
          <p:cNvPr id="404" name="Google Shape;404;p21"/>
          <p:cNvSpPr txBox="1">
            <a:spLocks noGrp="1"/>
          </p:cNvSpPr>
          <p:nvPr>
            <p:ph type="body" idx="3"/>
          </p:nvPr>
        </p:nvSpPr>
        <p:spPr>
          <a:xfrm>
            <a:off x="6822928" y="4216669"/>
            <a:ext cx="3445783" cy="28907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dirty="0">
                <a:hlinkClick r:id="rId4"/>
              </a:rPr>
              <a:t>mennatullahelsahy@gmail.com</a:t>
            </a:r>
            <a:endParaRPr dirty="0"/>
          </a:p>
        </p:txBody>
      </p:sp>
      <p:sp>
        <p:nvSpPr>
          <p:cNvPr id="405" name="Google Shape;405;p21"/>
          <p:cNvSpPr txBox="1">
            <a:spLocks noGrp="1"/>
          </p:cNvSpPr>
          <p:nvPr>
            <p:ph type="body" idx="4"/>
          </p:nvPr>
        </p:nvSpPr>
        <p:spPr>
          <a:xfrm>
            <a:off x="6822929" y="4594957"/>
            <a:ext cx="3445782" cy="288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u="sng" dirty="0">
                <a:solidFill>
                  <a:schemeClr val="hlink"/>
                </a:solidFill>
                <a:hlinkClick r:id="rId5"/>
              </a:rPr>
              <a:t>Mennatullah Elsahy | LinkedIn</a:t>
            </a:r>
            <a:endParaRPr dirty="0"/>
          </a:p>
        </p:txBody>
      </p:sp>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Sagona Extra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agona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935</TotalTime>
  <Words>1377</Words>
  <Application>Microsoft Office PowerPoint</Application>
  <PresentationFormat>Widescreen</PresentationFormat>
  <Paragraphs>250</Paragraphs>
  <Slides>60</Slides>
  <Notes>56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Aptos</vt:lpstr>
      <vt:lpstr>Arial</vt:lpstr>
      <vt:lpstr>Arial Black</vt:lpstr>
      <vt:lpstr>Calibri</vt:lpstr>
      <vt:lpstr>Jacques Francois Shadow</vt:lpstr>
      <vt:lpstr>Sagona Book</vt:lpstr>
      <vt:lpstr>Sagona ExtraLight</vt:lpstr>
      <vt:lpstr>Wingdings</vt:lpstr>
      <vt:lpstr>RetrospectVTI</vt:lpstr>
      <vt:lpstr>Data Bases</vt:lpstr>
      <vt:lpstr>These are the three types of data types which lead directly to the type of the data repository where such data type can be extracted, transformed, and loaded into. Structured data such as EXCEL files, ACCESS databases, SQL databases, and every type of databases that constructed from rows and columns. Semi-structured data such as Emails where the sender, carbon copy recipient, blinded carbon copy recipient, and subject fields are structured data where the email content is not structured data. Unstructured data such as videos, images, text files, audio, etc.</vt:lpstr>
      <vt:lpstr>Structured Data </vt:lpstr>
      <vt:lpstr>Semi-Structured Data </vt:lpstr>
      <vt:lpstr>Semi-Structured Data </vt:lpstr>
      <vt:lpstr>Semi-Structured Data </vt:lpstr>
      <vt:lpstr>Unstructured Data </vt:lpstr>
      <vt:lpstr>Unstructured Data </vt:lpstr>
      <vt:lpstr>PowerPoint Presentation</vt:lpstr>
      <vt:lpstr>Data </vt:lpstr>
      <vt:lpstr>Standard File Format</vt:lpstr>
      <vt:lpstr>PowerPoint Presentation</vt:lpstr>
      <vt:lpstr>PowerPoint Presentation</vt:lpstr>
      <vt:lpstr>PowerPoint Presentation</vt:lpstr>
      <vt:lpstr>PowerPoint Presentation</vt:lpstr>
      <vt:lpstr>PowerPoint Presentation</vt:lpstr>
      <vt:lpstr>Structured Query Language</vt:lpstr>
      <vt:lpstr>Types of data repositories include:</vt:lpstr>
      <vt:lpstr>What is Relational Database?</vt:lpstr>
      <vt:lpstr>Advantage of Relational Databases</vt:lpstr>
      <vt:lpstr>Structured Query Language </vt:lpstr>
      <vt:lpstr>Examples of RDBMS</vt:lpstr>
      <vt:lpstr>PowerPoint Presentation</vt:lpstr>
      <vt:lpstr>Limitations of RDBMS</vt:lpstr>
      <vt:lpstr>Advantage of NoSQL </vt:lpstr>
      <vt:lpstr>Key-Value Store</vt:lpstr>
      <vt:lpstr>PowerPoint Presentation</vt:lpstr>
      <vt:lpstr>Key-Value Store</vt:lpstr>
      <vt:lpstr>Column Based</vt:lpstr>
      <vt:lpstr>PowerPoint Presentation</vt:lpstr>
      <vt:lpstr>Column Based</vt:lpstr>
      <vt:lpstr>Column Based</vt:lpstr>
      <vt:lpstr>Document Based</vt:lpstr>
      <vt:lpstr>PowerPoint Presentation</vt:lpstr>
      <vt:lpstr>PowerPoint Presentation</vt:lpstr>
      <vt:lpstr>Document Based</vt:lpstr>
      <vt:lpstr>Graph Based</vt:lpstr>
      <vt:lpstr>PowerPoint Presentation</vt:lpstr>
      <vt:lpstr>PowerPoint Presentation</vt:lpstr>
      <vt:lpstr>Graph Based</vt:lpstr>
      <vt:lpstr>Graph Based</vt:lpstr>
      <vt:lpstr>Data Warehouse</vt:lpstr>
      <vt:lpstr>Data Warehouses</vt:lpstr>
      <vt:lpstr>Data Marts</vt:lpstr>
      <vt:lpstr>Data Lakes</vt:lpstr>
      <vt:lpstr>PowerPoint Presentation</vt:lpstr>
      <vt:lpstr>PowerPoint Presentation</vt:lpstr>
      <vt:lpstr>Extract, Transform,  and Load  (ETL) Process</vt:lpstr>
      <vt:lpstr>Extract, Transform,  and Load  (ETL) Process</vt:lpstr>
      <vt:lpstr>Extract, Transform,  and Load  (ETL) Process</vt:lpstr>
      <vt:lpstr>Extract, Transform,  and Load  (ETL) Process</vt:lpstr>
      <vt:lpstr>Extract, Transform,  and Load  (ETL) Process</vt:lpstr>
      <vt:lpstr>Data Pipeline</vt:lpstr>
      <vt:lpstr>Discussion</vt:lpstr>
      <vt:lpstr>Question 1</vt:lpstr>
      <vt:lpstr>Question 2</vt:lpstr>
      <vt:lpstr>Question 3</vt:lpstr>
      <vt:lpstr>Question 4</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Bases</dc:title>
  <dc:creator>Waleed Mouhammed</dc:creator>
  <cp:lastModifiedBy>Menna EL Sahy</cp:lastModifiedBy>
  <cp:revision>40</cp:revision>
  <dcterms:created xsi:type="dcterms:W3CDTF">2022-09-13T17:33:28Z</dcterms:created>
  <dcterms:modified xsi:type="dcterms:W3CDTF">2024-12-30T05:44:24Z</dcterms:modified>
</cp:coreProperties>
</file>